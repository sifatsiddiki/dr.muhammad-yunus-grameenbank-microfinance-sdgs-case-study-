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rdo" charset="1" panose="02020600000000000000"/>
      <p:regular r:id="rId19"/>
    </p:embeddedFont>
    <p:embeddedFont>
      <p:font typeface="Cardo Bold" charset="1" panose="02020804080000020003"/>
      <p:regular r:id="rId20"/>
    </p:embeddedFont>
    <p:embeddedFont>
      <p:font typeface="Cardo Italics" charset="1" panose="0202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6A8C5"/>
        </a:solidFill>
      </p:bgPr>
    </p:bg>
    <p:spTree>
      <p:nvGrpSpPr>
        <p:cNvPr id="1" name=""/>
        <p:cNvGrpSpPr/>
        <p:nvPr/>
      </p:nvGrpSpPr>
      <p:grpSpPr>
        <a:xfrm>
          <a:off x="0" y="0"/>
          <a:ext cx="0" cy="0"/>
          <a:chOff x="0" y="0"/>
          <a:chExt cx="0" cy="0"/>
        </a:xfrm>
      </p:grpSpPr>
      <p:sp>
        <p:nvSpPr>
          <p:cNvPr name="AutoShape 2" id="2"/>
          <p:cNvSpPr/>
          <p:nvPr/>
        </p:nvSpPr>
        <p:spPr>
          <a:xfrm rot="0">
            <a:off x="11389133" y="0"/>
            <a:ext cx="6898867" cy="10287000"/>
          </a:xfrm>
          <a:prstGeom prst="rect">
            <a:avLst/>
          </a:prstGeom>
          <a:solidFill>
            <a:srgbClr val="FFFFFF"/>
          </a:solidFill>
        </p:spPr>
      </p:sp>
      <p:sp>
        <p:nvSpPr>
          <p:cNvPr name="TextBox 3" id="3"/>
          <p:cNvSpPr txBox="true"/>
          <p:nvPr/>
        </p:nvSpPr>
        <p:spPr>
          <a:xfrm rot="0">
            <a:off x="1566092" y="1325645"/>
            <a:ext cx="8685391" cy="4200525"/>
          </a:xfrm>
          <a:prstGeom prst="rect">
            <a:avLst/>
          </a:prstGeom>
        </p:spPr>
        <p:txBody>
          <a:bodyPr anchor="t" rtlCol="false" tIns="0" lIns="0" bIns="0" rIns="0">
            <a:spAutoFit/>
          </a:bodyPr>
          <a:lstStyle/>
          <a:p>
            <a:pPr algn="l">
              <a:lnSpc>
                <a:spcPts val="16800"/>
              </a:lnSpc>
            </a:pPr>
            <a:r>
              <a:rPr lang="en-US" sz="12000">
                <a:solidFill>
                  <a:srgbClr val="FFFFFF"/>
                </a:solidFill>
                <a:latin typeface="Cardo"/>
                <a:ea typeface="Cardo"/>
                <a:cs typeface="Cardo"/>
                <a:sym typeface="Cardo"/>
              </a:rPr>
              <a:t>Muhammad</a:t>
            </a:r>
          </a:p>
          <a:p>
            <a:pPr algn="l">
              <a:lnSpc>
                <a:spcPts val="16800"/>
              </a:lnSpc>
            </a:pPr>
            <a:r>
              <a:rPr lang="en-US" sz="12000">
                <a:solidFill>
                  <a:srgbClr val="FFFFFF"/>
                </a:solidFill>
                <a:latin typeface="Cardo"/>
                <a:ea typeface="Cardo"/>
                <a:cs typeface="Cardo"/>
                <a:sym typeface="Cardo"/>
              </a:rPr>
              <a:t>Yunus</a:t>
            </a:r>
          </a:p>
        </p:txBody>
      </p:sp>
      <p:grpSp>
        <p:nvGrpSpPr>
          <p:cNvPr name="Group 4" id="4"/>
          <p:cNvGrpSpPr/>
          <p:nvPr/>
        </p:nvGrpSpPr>
        <p:grpSpPr>
          <a:xfrm rot="0">
            <a:off x="11282459" y="9729704"/>
            <a:ext cx="7005541" cy="557296"/>
            <a:chOff x="0" y="0"/>
            <a:chExt cx="1845081" cy="146778"/>
          </a:xfrm>
        </p:grpSpPr>
        <p:sp>
          <p:nvSpPr>
            <p:cNvPr name="Freeform 5" id="5"/>
            <p:cNvSpPr/>
            <p:nvPr/>
          </p:nvSpPr>
          <p:spPr>
            <a:xfrm flipH="false" flipV="false" rot="0">
              <a:off x="0" y="0"/>
              <a:ext cx="1845081" cy="146778"/>
            </a:xfrm>
            <a:custGeom>
              <a:avLst/>
              <a:gdLst/>
              <a:ahLst/>
              <a:cxnLst/>
              <a:rect r="r" b="b" t="t" l="l"/>
              <a:pathLst>
                <a:path h="146778" w="1845081">
                  <a:moveTo>
                    <a:pt x="0" y="0"/>
                  </a:moveTo>
                  <a:lnTo>
                    <a:pt x="1845081" y="0"/>
                  </a:lnTo>
                  <a:lnTo>
                    <a:pt x="1845081" y="146778"/>
                  </a:lnTo>
                  <a:lnTo>
                    <a:pt x="0" y="146778"/>
                  </a:lnTo>
                  <a:close/>
                </a:path>
              </a:pathLst>
            </a:custGeom>
            <a:solidFill>
              <a:srgbClr val="86A8C5"/>
            </a:solidFill>
          </p:spPr>
        </p:sp>
        <p:sp>
          <p:nvSpPr>
            <p:cNvPr name="TextBox 6" id="6"/>
            <p:cNvSpPr txBox="true"/>
            <p:nvPr/>
          </p:nvSpPr>
          <p:spPr>
            <a:xfrm>
              <a:off x="0" y="-28575"/>
              <a:ext cx="1845081" cy="175353"/>
            </a:xfrm>
            <a:prstGeom prst="rect">
              <a:avLst/>
            </a:prstGeom>
          </p:spPr>
          <p:txBody>
            <a:bodyPr anchor="ctr" rtlCol="false" tIns="50800" lIns="50800" bIns="50800" rIns="50800"/>
            <a:lstStyle/>
            <a:p>
              <a:pPr algn="ctr">
                <a:lnSpc>
                  <a:spcPts val="2239"/>
                </a:lnSpc>
              </a:pPr>
            </a:p>
          </p:txBody>
        </p:sp>
      </p:grpSp>
      <p:sp>
        <p:nvSpPr>
          <p:cNvPr name="TextBox 7" id="7"/>
          <p:cNvSpPr txBox="true"/>
          <p:nvPr/>
        </p:nvSpPr>
        <p:spPr>
          <a:xfrm rot="0">
            <a:off x="11389133" y="9750315"/>
            <a:ext cx="6898867" cy="549910"/>
          </a:xfrm>
          <a:prstGeom prst="rect">
            <a:avLst/>
          </a:prstGeom>
        </p:spPr>
        <p:txBody>
          <a:bodyPr anchor="t" rtlCol="false" tIns="0" lIns="0" bIns="0" rIns="0">
            <a:spAutoFit/>
          </a:bodyPr>
          <a:lstStyle/>
          <a:p>
            <a:pPr algn="l">
              <a:lnSpc>
                <a:spcPts val="2239"/>
              </a:lnSpc>
            </a:pPr>
            <a:r>
              <a:rPr lang="en-US" sz="1599" b="true">
                <a:solidFill>
                  <a:srgbClr val="0B0C0F"/>
                </a:solidFill>
                <a:latin typeface="Cardo Bold"/>
                <a:ea typeface="Cardo Bold"/>
                <a:cs typeface="Cardo Bold"/>
                <a:sym typeface="Cardo Bold"/>
              </a:rPr>
              <a:t>Fig 1. Muhammad Yunus</a:t>
            </a:r>
          </a:p>
          <a:p>
            <a:pPr algn="l">
              <a:lnSpc>
                <a:spcPts val="2239"/>
              </a:lnSpc>
            </a:pPr>
            <a:r>
              <a:rPr lang="en-US" sz="1599" b="true">
                <a:solidFill>
                  <a:srgbClr val="0B0C0F"/>
                </a:solidFill>
                <a:latin typeface="Cardo Bold"/>
                <a:ea typeface="Cardo Bold"/>
                <a:cs typeface="Cardo Bold"/>
                <a:sym typeface="Cardo Bold"/>
              </a:rPr>
              <a:t>Source. Wikimedia Commons</a:t>
            </a:r>
          </a:p>
        </p:txBody>
      </p:sp>
      <p:grpSp>
        <p:nvGrpSpPr>
          <p:cNvPr name="Group 8" id="8"/>
          <p:cNvGrpSpPr/>
          <p:nvPr/>
        </p:nvGrpSpPr>
        <p:grpSpPr>
          <a:xfrm rot="0">
            <a:off x="-1335108" y="-1352219"/>
            <a:ext cx="4224218" cy="4426267"/>
            <a:chOff x="0" y="0"/>
            <a:chExt cx="5632291" cy="5901690"/>
          </a:xfrm>
        </p:grpSpPr>
        <p:grpSp>
          <p:nvGrpSpPr>
            <p:cNvPr name="Group 9" id="9"/>
            <p:cNvGrpSpPr/>
            <p:nvPr/>
          </p:nvGrpSpPr>
          <p:grpSpPr>
            <a:xfrm rot="-2700000">
              <a:off x="84725" y="2980139"/>
              <a:ext cx="6134037" cy="882009"/>
              <a:chOff x="0" y="0"/>
              <a:chExt cx="1211662" cy="174224"/>
            </a:xfrm>
          </p:grpSpPr>
          <p:sp>
            <p:nvSpPr>
              <p:cNvPr name="Freeform 10" id="1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11" id="11"/>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12" id="12"/>
            <p:cNvGrpSpPr/>
            <p:nvPr/>
          </p:nvGrpSpPr>
          <p:grpSpPr>
            <a:xfrm rot="-2700000">
              <a:off x="-250873" y="2509840"/>
              <a:ext cx="6134037" cy="882009"/>
              <a:chOff x="0" y="0"/>
              <a:chExt cx="1211662" cy="174224"/>
            </a:xfrm>
          </p:grpSpPr>
          <p:sp>
            <p:nvSpPr>
              <p:cNvPr name="Freeform 13" id="13"/>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14" id="14"/>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15" id="15"/>
            <p:cNvGrpSpPr/>
            <p:nvPr/>
          </p:nvGrpSpPr>
          <p:grpSpPr>
            <a:xfrm rot="-2700000">
              <a:off x="-586472" y="2039542"/>
              <a:ext cx="6134037" cy="882009"/>
              <a:chOff x="0" y="0"/>
              <a:chExt cx="1211662" cy="174224"/>
            </a:xfrm>
          </p:grpSpPr>
          <p:sp>
            <p:nvSpPr>
              <p:cNvPr name="Freeform 16" id="16"/>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17" id="17"/>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grpSp>
        <p:nvGrpSpPr>
          <p:cNvPr name="Group 18" id="18"/>
          <p:cNvGrpSpPr/>
          <p:nvPr/>
        </p:nvGrpSpPr>
        <p:grpSpPr>
          <a:xfrm rot="0">
            <a:off x="-2182202" y="8104798"/>
            <a:ext cx="4678844" cy="5181363"/>
            <a:chOff x="0" y="0"/>
            <a:chExt cx="6238459" cy="6908484"/>
          </a:xfrm>
        </p:grpSpPr>
        <p:grpSp>
          <p:nvGrpSpPr>
            <p:cNvPr name="Group 19" id="19"/>
            <p:cNvGrpSpPr/>
            <p:nvPr/>
          </p:nvGrpSpPr>
          <p:grpSpPr>
            <a:xfrm rot="-2700000">
              <a:off x="852203" y="852203"/>
              <a:ext cx="4114800" cy="411480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21" id="21"/>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22" id="22"/>
            <p:cNvGrpSpPr/>
            <p:nvPr/>
          </p:nvGrpSpPr>
          <p:grpSpPr>
            <a:xfrm rot="2700000">
              <a:off x="1271456" y="1941481"/>
              <a:ext cx="4114800" cy="411480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24" id="24"/>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5" id="25"/>
          <p:cNvGrpSpPr/>
          <p:nvPr/>
        </p:nvGrpSpPr>
        <p:grpSpPr>
          <a:xfrm rot="-2700000">
            <a:off x="15685912" y="9457661"/>
            <a:ext cx="4100481" cy="661507"/>
            <a:chOff x="0" y="0"/>
            <a:chExt cx="1079962" cy="174224"/>
          </a:xfrm>
        </p:grpSpPr>
        <p:sp>
          <p:nvSpPr>
            <p:cNvPr name="Freeform 26" id="26"/>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27" id="27"/>
            <p:cNvSpPr txBox="true"/>
            <p:nvPr/>
          </p:nvSpPr>
          <p:spPr>
            <a:xfrm>
              <a:off x="0" y="-38100"/>
              <a:ext cx="1079962" cy="212324"/>
            </a:xfrm>
            <a:prstGeom prst="rect">
              <a:avLst/>
            </a:prstGeom>
          </p:spPr>
          <p:txBody>
            <a:bodyPr anchor="ctr" rtlCol="false" tIns="50800" lIns="50800" bIns="50800" rIns="50800"/>
            <a:lstStyle/>
            <a:p>
              <a:pPr algn="ctr">
                <a:lnSpc>
                  <a:spcPts val="2239"/>
                </a:lnSpc>
              </a:pPr>
            </a:p>
          </p:txBody>
        </p:sp>
      </p:grpSp>
      <p:sp>
        <p:nvSpPr>
          <p:cNvPr name="Freeform 28" id="28"/>
          <p:cNvSpPr/>
          <p:nvPr/>
        </p:nvSpPr>
        <p:spPr>
          <a:xfrm flipH="false" flipV="false" rot="0">
            <a:off x="11389133" y="1011"/>
            <a:ext cx="6898867" cy="9787404"/>
          </a:xfrm>
          <a:custGeom>
            <a:avLst/>
            <a:gdLst/>
            <a:ahLst/>
            <a:cxnLst/>
            <a:rect r="r" b="b" t="t" l="l"/>
            <a:pathLst>
              <a:path h="9787404" w="6898867">
                <a:moveTo>
                  <a:pt x="0" y="0"/>
                </a:moveTo>
                <a:lnTo>
                  <a:pt x="6898867" y="0"/>
                </a:lnTo>
                <a:lnTo>
                  <a:pt x="6898867" y="9787404"/>
                </a:lnTo>
                <a:lnTo>
                  <a:pt x="0" y="9787404"/>
                </a:lnTo>
                <a:lnTo>
                  <a:pt x="0" y="0"/>
                </a:lnTo>
                <a:close/>
              </a:path>
            </a:pathLst>
          </a:custGeom>
          <a:blipFill>
            <a:blip r:embed="rId2"/>
            <a:stretch>
              <a:fillRect l="0" t="0" r="0" b="-1238"/>
            </a:stretch>
          </a:blipFill>
        </p:spPr>
      </p:sp>
      <p:sp>
        <p:nvSpPr>
          <p:cNvPr name="TextBox 29" id="29"/>
          <p:cNvSpPr txBox="true"/>
          <p:nvPr/>
        </p:nvSpPr>
        <p:spPr>
          <a:xfrm rot="0">
            <a:off x="1566092" y="6132394"/>
            <a:ext cx="8467491" cy="2878965"/>
          </a:xfrm>
          <a:prstGeom prst="rect">
            <a:avLst/>
          </a:prstGeom>
        </p:spPr>
        <p:txBody>
          <a:bodyPr anchor="t" rtlCol="false" tIns="0" lIns="0" bIns="0" rIns="0">
            <a:spAutoFit/>
          </a:bodyPr>
          <a:lstStyle/>
          <a:p>
            <a:pPr algn="l">
              <a:lnSpc>
                <a:spcPts val="5732"/>
              </a:lnSpc>
            </a:pPr>
            <a:r>
              <a:rPr lang="en-US" sz="4094" i="true">
                <a:solidFill>
                  <a:srgbClr val="FFFFFF"/>
                </a:solidFill>
                <a:latin typeface="Cardo Italics"/>
                <a:ea typeface="Cardo Italics"/>
                <a:cs typeface="Cardo Italics"/>
                <a:sym typeface="Cardo Italics"/>
              </a:rPr>
              <a:t>Zed Oparaugo Ukenye(40734642), </a:t>
            </a:r>
          </a:p>
          <a:p>
            <a:pPr algn="l">
              <a:lnSpc>
                <a:spcPts val="5732"/>
              </a:lnSpc>
            </a:pPr>
            <a:r>
              <a:rPr lang="en-US" sz="4094" i="true">
                <a:solidFill>
                  <a:srgbClr val="FFFFFF"/>
                </a:solidFill>
                <a:latin typeface="Cardo Italics"/>
                <a:ea typeface="Cardo Italics"/>
                <a:cs typeface="Cardo Italics"/>
                <a:sym typeface="Cardo Italics"/>
              </a:rPr>
              <a:t>Al Sifat Sidiki(40735842),</a:t>
            </a:r>
          </a:p>
          <a:p>
            <a:pPr algn="l">
              <a:lnSpc>
                <a:spcPts val="5732"/>
              </a:lnSpc>
            </a:pPr>
            <a:r>
              <a:rPr lang="en-US" sz="4094" i="true">
                <a:solidFill>
                  <a:srgbClr val="FFFFFF"/>
                </a:solidFill>
                <a:latin typeface="Cardo Italics"/>
                <a:ea typeface="Cardo Italics"/>
                <a:cs typeface="Cardo Italics"/>
                <a:sym typeface="Cardo Italics"/>
              </a:rPr>
              <a:t>Muhammad Usman Rasool(40736151),</a:t>
            </a:r>
          </a:p>
          <a:p>
            <a:pPr algn="l">
              <a:lnSpc>
                <a:spcPts val="5732"/>
              </a:lnSpc>
              <a:spcBef>
                <a:spcPct val="0"/>
              </a:spcBef>
            </a:pPr>
            <a:r>
              <a:rPr lang="en-US" sz="4094" i="true">
                <a:solidFill>
                  <a:srgbClr val="FFFFFF"/>
                </a:solidFill>
                <a:latin typeface="Cardo Italics"/>
                <a:ea typeface="Cardo Italics"/>
                <a:cs typeface="Cardo Italics"/>
                <a:sym typeface="Cardo Italics"/>
              </a:rPr>
              <a:t>Huraira Tabassum(40736966)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335108" y="-1352219"/>
            <a:ext cx="4224218" cy="4426267"/>
            <a:chOff x="0" y="0"/>
            <a:chExt cx="5632291" cy="5901690"/>
          </a:xfrm>
        </p:grpSpPr>
        <p:grpSp>
          <p:nvGrpSpPr>
            <p:cNvPr name="Group 4" id="4"/>
            <p:cNvGrpSpPr/>
            <p:nvPr/>
          </p:nvGrpSpPr>
          <p:grpSpPr>
            <a:xfrm rot="-2700000">
              <a:off x="84725" y="2980139"/>
              <a:ext cx="6134037" cy="882009"/>
              <a:chOff x="0" y="0"/>
              <a:chExt cx="1211662" cy="174224"/>
            </a:xfrm>
          </p:grpSpPr>
          <p:sp>
            <p:nvSpPr>
              <p:cNvPr name="Freeform 5" id="5"/>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6" id="6"/>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2700000">
              <a:off x="-250873" y="2509840"/>
              <a:ext cx="6134037" cy="882009"/>
              <a:chOff x="0" y="0"/>
              <a:chExt cx="1211662" cy="174224"/>
            </a:xfrm>
          </p:grpSpPr>
          <p:sp>
            <p:nvSpPr>
              <p:cNvPr name="Freeform 8" id="8"/>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9" id="9"/>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2700000">
              <a:off x="-586472" y="2039542"/>
              <a:ext cx="6134037" cy="882009"/>
              <a:chOff x="0" y="0"/>
              <a:chExt cx="1211662" cy="174224"/>
            </a:xfrm>
          </p:grpSpPr>
          <p:sp>
            <p:nvSpPr>
              <p:cNvPr name="Freeform 11" id="11"/>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12" id="12"/>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sp>
        <p:nvSpPr>
          <p:cNvPr name="TextBox 13" id="13"/>
          <p:cNvSpPr txBox="true"/>
          <p:nvPr/>
        </p:nvSpPr>
        <p:spPr>
          <a:xfrm rot="0">
            <a:off x="777001" y="1981544"/>
            <a:ext cx="16959151" cy="7258967"/>
          </a:xfrm>
          <a:prstGeom prst="rect">
            <a:avLst/>
          </a:prstGeom>
        </p:spPr>
        <p:txBody>
          <a:bodyPr anchor="t" rtlCol="false" tIns="0" lIns="0" bIns="0" rIns="0">
            <a:spAutoFit/>
          </a:bodyPr>
          <a:lstStyle/>
          <a:p>
            <a:pPr algn="l" marL="1166799" indent="-583400" lvl="1">
              <a:lnSpc>
                <a:spcPts val="9727"/>
              </a:lnSpc>
              <a:buFont typeface="Arial"/>
              <a:buChar char="•"/>
            </a:pPr>
            <a:r>
              <a:rPr lang="en-US" sz="5404">
                <a:solidFill>
                  <a:srgbClr val="FFFFFF"/>
                </a:solidFill>
                <a:latin typeface="Cardo"/>
                <a:ea typeface="Cardo"/>
                <a:cs typeface="Cardo"/>
                <a:sym typeface="Cardo"/>
              </a:rPr>
              <a:t>Introduction</a:t>
            </a:r>
          </a:p>
          <a:p>
            <a:pPr algn="l" marL="1166799" indent="-583400" lvl="1">
              <a:lnSpc>
                <a:spcPts val="9727"/>
              </a:lnSpc>
              <a:buFont typeface="Arial"/>
              <a:buChar char="•"/>
            </a:pPr>
            <a:r>
              <a:rPr lang="en-US" sz="5404">
                <a:solidFill>
                  <a:srgbClr val="FFFFFF"/>
                </a:solidFill>
                <a:latin typeface="Cardo"/>
                <a:ea typeface="Cardo"/>
                <a:cs typeface="Cardo"/>
                <a:sym typeface="Cardo"/>
              </a:rPr>
              <a:t>Muhammad Yunus</a:t>
            </a:r>
          </a:p>
          <a:p>
            <a:pPr algn="l" marL="1166799" indent="-583400" lvl="1">
              <a:lnSpc>
                <a:spcPts val="9727"/>
              </a:lnSpc>
              <a:buFont typeface="Arial"/>
              <a:buChar char="•"/>
            </a:pPr>
            <a:r>
              <a:rPr lang="en-US" sz="5404">
                <a:solidFill>
                  <a:srgbClr val="FFFFFF"/>
                </a:solidFill>
                <a:latin typeface="Cardo"/>
                <a:ea typeface="Cardo"/>
                <a:cs typeface="Cardo"/>
                <a:sym typeface="Cardo"/>
              </a:rPr>
              <a:t>The Creation of Grameen Bank &amp; Microfinance</a:t>
            </a:r>
          </a:p>
          <a:p>
            <a:pPr algn="l" marL="1166799" indent="-583400" lvl="1">
              <a:lnSpc>
                <a:spcPts val="9727"/>
              </a:lnSpc>
              <a:buFont typeface="Arial"/>
              <a:buChar char="•"/>
            </a:pPr>
            <a:r>
              <a:rPr lang="en-US" sz="5404">
                <a:solidFill>
                  <a:srgbClr val="FFFFFF"/>
                </a:solidFill>
                <a:latin typeface="Cardo"/>
                <a:ea typeface="Cardo"/>
                <a:cs typeface="Cardo"/>
                <a:sym typeface="Cardo"/>
              </a:rPr>
              <a:t>Impact of Dr. Yunus’s Work &amp; Global Recognition</a:t>
            </a:r>
          </a:p>
          <a:p>
            <a:pPr algn="l" marL="1166799" indent="-583400" lvl="1">
              <a:lnSpc>
                <a:spcPts val="9727"/>
              </a:lnSpc>
              <a:buFont typeface="Arial"/>
              <a:buChar char="•"/>
            </a:pPr>
            <a:r>
              <a:rPr lang="en-US" sz="5404">
                <a:solidFill>
                  <a:srgbClr val="FFFFFF"/>
                </a:solidFill>
                <a:latin typeface="Cardo"/>
                <a:ea typeface="Cardo"/>
                <a:cs typeface="Cardo"/>
                <a:sym typeface="Cardo"/>
              </a:rPr>
              <a:t>Criticism, Challenges, and Future of Microfinance</a:t>
            </a:r>
          </a:p>
          <a:p>
            <a:pPr algn="l" marL="1166799" indent="-583400" lvl="1">
              <a:lnSpc>
                <a:spcPts val="9727"/>
              </a:lnSpc>
              <a:buFont typeface="Arial"/>
              <a:buChar char="•"/>
            </a:pPr>
            <a:r>
              <a:rPr lang="en-US" sz="5404">
                <a:solidFill>
                  <a:srgbClr val="FFFFFF"/>
                </a:solidFill>
                <a:latin typeface="Cardo"/>
                <a:ea typeface="Cardo"/>
                <a:cs typeface="Cardo"/>
                <a:sym typeface="Cardo"/>
              </a:rPr>
              <a:t>Conclusion</a:t>
            </a:r>
          </a:p>
        </p:txBody>
      </p:sp>
      <p:grpSp>
        <p:nvGrpSpPr>
          <p:cNvPr name="Group 14" id="14"/>
          <p:cNvGrpSpPr/>
          <p:nvPr/>
        </p:nvGrpSpPr>
        <p:grpSpPr>
          <a:xfrm rot="0">
            <a:off x="-2182202" y="8104798"/>
            <a:ext cx="4678844" cy="5181363"/>
            <a:chOff x="0" y="0"/>
            <a:chExt cx="6238459" cy="6908484"/>
          </a:xfrm>
        </p:grpSpPr>
        <p:grpSp>
          <p:nvGrpSpPr>
            <p:cNvPr name="Group 15" id="15"/>
            <p:cNvGrpSpPr/>
            <p:nvPr/>
          </p:nvGrpSpPr>
          <p:grpSpPr>
            <a:xfrm rot="-2700000">
              <a:off x="852203" y="852203"/>
              <a:ext cx="4114800" cy="41148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7" id="17"/>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18" id="18"/>
            <p:cNvGrpSpPr/>
            <p:nvPr/>
          </p:nvGrpSpPr>
          <p:grpSpPr>
            <a:xfrm rot="2700000">
              <a:off x="1271456" y="1941481"/>
              <a:ext cx="4114800" cy="41148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20" id="20"/>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1" id="21"/>
          <p:cNvGrpSpPr/>
          <p:nvPr/>
        </p:nvGrpSpPr>
        <p:grpSpPr>
          <a:xfrm rot="0">
            <a:off x="16227027" y="-2182202"/>
            <a:ext cx="5050973" cy="4478072"/>
            <a:chOff x="0" y="0"/>
            <a:chExt cx="6734630" cy="5970762"/>
          </a:xfrm>
        </p:grpSpPr>
        <p:grpSp>
          <p:nvGrpSpPr>
            <p:cNvPr name="Group 22" id="22"/>
            <p:cNvGrpSpPr/>
            <p:nvPr/>
          </p:nvGrpSpPr>
          <p:grpSpPr>
            <a:xfrm rot="2700000">
              <a:off x="852203" y="852203"/>
              <a:ext cx="4114800" cy="411480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24" id="24"/>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25" id="25"/>
            <p:cNvGrpSpPr/>
            <p:nvPr/>
          </p:nvGrpSpPr>
          <p:grpSpPr>
            <a:xfrm rot="2700000">
              <a:off x="1767627" y="1003759"/>
              <a:ext cx="4114800" cy="4114800"/>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27" id="27"/>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8" id="28"/>
          <p:cNvGrpSpPr/>
          <p:nvPr/>
        </p:nvGrpSpPr>
        <p:grpSpPr>
          <a:xfrm rot="-2700000">
            <a:off x="15685912" y="9457661"/>
            <a:ext cx="4100481" cy="661507"/>
            <a:chOff x="0" y="0"/>
            <a:chExt cx="1079962" cy="174224"/>
          </a:xfrm>
        </p:grpSpPr>
        <p:sp>
          <p:nvSpPr>
            <p:cNvPr name="Freeform 29" id="29"/>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30" id="30"/>
            <p:cNvSpPr txBox="true"/>
            <p:nvPr/>
          </p:nvSpPr>
          <p:spPr>
            <a:xfrm>
              <a:off x="0" y="-38100"/>
              <a:ext cx="1079962" cy="212324"/>
            </a:xfrm>
            <a:prstGeom prst="rect">
              <a:avLst/>
            </a:prstGeom>
          </p:spPr>
          <p:txBody>
            <a:bodyPr anchor="ctr" rtlCol="false" tIns="50800" lIns="50800" bIns="50800" rIns="50800"/>
            <a:lstStyle/>
            <a:p>
              <a:pPr algn="ctr">
                <a:lnSpc>
                  <a:spcPts val="2239"/>
                </a:lnSpc>
              </a:pPr>
            </a:p>
          </p:txBody>
        </p:sp>
      </p:grpSp>
      <p:sp>
        <p:nvSpPr>
          <p:cNvPr name="TextBox 31" id="31"/>
          <p:cNvSpPr txBox="true"/>
          <p:nvPr/>
        </p:nvSpPr>
        <p:spPr>
          <a:xfrm rot="0">
            <a:off x="777001" y="1086827"/>
            <a:ext cx="10057219" cy="1095375"/>
          </a:xfrm>
          <a:prstGeom prst="rect">
            <a:avLst/>
          </a:prstGeom>
        </p:spPr>
        <p:txBody>
          <a:bodyPr anchor="t" rtlCol="false" tIns="0" lIns="0" bIns="0" rIns="0">
            <a:spAutoFit/>
          </a:bodyPr>
          <a:lstStyle/>
          <a:p>
            <a:pPr algn="l" marL="0" indent="0" lvl="0">
              <a:lnSpc>
                <a:spcPts val="8640"/>
              </a:lnSpc>
            </a:pPr>
            <a:r>
              <a:rPr lang="en-US" sz="7200">
                <a:solidFill>
                  <a:srgbClr val="FFFFFF"/>
                </a:solidFill>
                <a:latin typeface="Cardo"/>
                <a:ea typeface="Cardo"/>
                <a:cs typeface="Cardo"/>
                <a:sym typeface="Cardo"/>
              </a:rPr>
              <a:t>Contents</a:t>
            </a:r>
          </a:p>
        </p:txBody>
      </p:sp>
      <p:sp>
        <p:nvSpPr>
          <p:cNvPr name="TextBox 32" id="32"/>
          <p:cNvSpPr txBox="true"/>
          <p:nvPr/>
        </p:nvSpPr>
        <p:spPr>
          <a:xfrm rot="0">
            <a:off x="14873689" y="9737090"/>
            <a:ext cx="3414311" cy="549910"/>
          </a:xfrm>
          <a:prstGeom prst="rect">
            <a:avLst/>
          </a:prstGeom>
        </p:spPr>
        <p:txBody>
          <a:bodyPr anchor="t" rtlCol="false" tIns="0" lIns="0" bIns="0" rIns="0">
            <a:spAutoFit/>
          </a:bodyPr>
          <a:lstStyle/>
          <a:p>
            <a:pPr algn="l">
              <a:lnSpc>
                <a:spcPts val="2239"/>
              </a:lnSpc>
            </a:pPr>
            <a:r>
              <a:rPr lang="en-US" sz="1599" b="true">
                <a:solidFill>
                  <a:srgbClr val="FFFFFF"/>
                </a:solidFill>
                <a:latin typeface="Cardo Bold"/>
                <a:ea typeface="Cardo Bold"/>
                <a:cs typeface="Cardo Bold"/>
                <a:sym typeface="Cardo Bold"/>
              </a:rPr>
              <a:t>Fig2. Muhammad Yunus</a:t>
            </a:r>
          </a:p>
          <a:p>
            <a:pPr algn="l">
              <a:lnSpc>
                <a:spcPts val="2239"/>
              </a:lnSpc>
            </a:pPr>
            <a:r>
              <a:rPr lang="en-US" sz="1599" b="true">
                <a:solidFill>
                  <a:srgbClr val="FFFFFF"/>
                </a:solidFill>
                <a:latin typeface="Cardo Bold"/>
                <a:ea typeface="Cardo Bold"/>
                <a:cs typeface="Cardo Bold"/>
                <a:sym typeface="Cardo Bold"/>
              </a:rPr>
              <a:t>Source. Wikimedia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86A8C5"/>
        </a:solidFill>
      </p:bgPr>
    </p:bg>
    <p:spTree>
      <p:nvGrpSpPr>
        <p:cNvPr id="1" name=""/>
        <p:cNvGrpSpPr/>
        <p:nvPr/>
      </p:nvGrpSpPr>
      <p:grpSpPr>
        <a:xfrm>
          <a:off x="0" y="0"/>
          <a:ext cx="0" cy="0"/>
          <a:chOff x="0" y="0"/>
          <a:chExt cx="0" cy="0"/>
        </a:xfrm>
      </p:grpSpPr>
      <p:grpSp>
        <p:nvGrpSpPr>
          <p:cNvPr name="Group 2" id="2"/>
          <p:cNvGrpSpPr/>
          <p:nvPr/>
        </p:nvGrpSpPr>
        <p:grpSpPr>
          <a:xfrm rot="0">
            <a:off x="-1335108" y="-1352219"/>
            <a:ext cx="4224218" cy="4426267"/>
            <a:chOff x="0" y="0"/>
            <a:chExt cx="5632291" cy="5901690"/>
          </a:xfrm>
        </p:grpSpPr>
        <p:grpSp>
          <p:nvGrpSpPr>
            <p:cNvPr name="Group 3" id="3"/>
            <p:cNvGrpSpPr/>
            <p:nvPr/>
          </p:nvGrpSpPr>
          <p:grpSpPr>
            <a:xfrm rot="-2700000">
              <a:off x="84725" y="2980139"/>
              <a:ext cx="6134037" cy="882009"/>
              <a:chOff x="0" y="0"/>
              <a:chExt cx="1211662" cy="174224"/>
            </a:xfrm>
          </p:grpSpPr>
          <p:sp>
            <p:nvSpPr>
              <p:cNvPr name="Freeform 4" id="4"/>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5" id="5"/>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2700000">
              <a:off x="-250873" y="2509840"/>
              <a:ext cx="6134037" cy="882009"/>
              <a:chOff x="0" y="0"/>
              <a:chExt cx="1211662" cy="174224"/>
            </a:xfrm>
          </p:grpSpPr>
          <p:sp>
            <p:nvSpPr>
              <p:cNvPr name="Freeform 7" id="7"/>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8" id="8"/>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9" id="9"/>
            <p:cNvGrpSpPr/>
            <p:nvPr/>
          </p:nvGrpSpPr>
          <p:grpSpPr>
            <a:xfrm rot="-2700000">
              <a:off x="-586472" y="2039542"/>
              <a:ext cx="6134037" cy="882009"/>
              <a:chOff x="0" y="0"/>
              <a:chExt cx="1211662" cy="174224"/>
            </a:xfrm>
          </p:grpSpPr>
          <p:sp>
            <p:nvSpPr>
              <p:cNvPr name="Freeform 10" id="1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11" id="11"/>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grpSp>
        <p:nvGrpSpPr>
          <p:cNvPr name="Group 12" id="12"/>
          <p:cNvGrpSpPr/>
          <p:nvPr/>
        </p:nvGrpSpPr>
        <p:grpSpPr>
          <a:xfrm rot="-2700000">
            <a:off x="15685912" y="9457661"/>
            <a:ext cx="4100481" cy="661507"/>
            <a:chOff x="0" y="0"/>
            <a:chExt cx="1079962" cy="174224"/>
          </a:xfrm>
        </p:grpSpPr>
        <p:sp>
          <p:nvSpPr>
            <p:cNvPr name="Freeform 13" id="13"/>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14" id="14"/>
            <p:cNvSpPr txBox="true"/>
            <p:nvPr/>
          </p:nvSpPr>
          <p:spPr>
            <a:xfrm>
              <a:off x="0" y="-38100"/>
              <a:ext cx="1079962" cy="212324"/>
            </a:xfrm>
            <a:prstGeom prst="rect">
              <a:avLst/>
            </a:prstGeom>
          </p:spPr>
          <p:txBody>
            <a:bodyPr anchor="ctr" rtlCol="false" tIns="50800" lIns="50800" bIns="50800" rIns="50800"/>
            <a:lstStyle/>
            <a:p>
              <a:pPr algn="ctr">
                <a:lnSpc>
                  <a:spcPts val="2239"/>
                </a:lnSpc>
              </a:pPr>
            </a:p>
          </p:txBody>
        </p:sp>
      </p:grpSp>
      <p:grpSp>
        <p:nvGrpSpPr>
          <p:cNvPr name="Group 15" id="15"/>
          <p:cNvGrpSpPr/>
          <p:nvPr/>
        </p:nvGrpSpPr>
        <p:grpSpPr>
          <a:xfrm rot="0">
            <a:off x="16227027" y="-2182202"/>
            <a:ext cx="5050973" cy="4478072"/>
            <a:chOff x="0" y="0"/>
            <a:chExt cx="6734630" cy="5970762"/>
          </a:xfrm>
        </p:grpSpPr>
        <p:grpSp>
          <p:nvGrpSpPr>
            <p:cNvPr name="Group 16" id="16"/>
            <p:cNvGrpSpPr/>
            <p:nvPr/>
          </p:nvGrpSpPr>
          <p:grpSpPr>
            <a:xfrm rot="2700000">
              <a:off x="852203" y="852203"/>
              <a:ext cx="4114800" cy="41148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18" id="18"/>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19" id="19"/>
            <p:cNvGrpSpPr/>
            <p:nvPr/>
          </p:nvGrpSpPr>
          <p:grpSpPr>
            <a:xfrm rot="2700000">
              <a:off x="1767627" y="1003759"/>
              <a:ext cx="4114800" cy="4114800"/>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21" id="21"/>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2" id="22"/>
          <p:cNvGrpSpPr/>
          <p:nvPr/>
        </p:nvGrpSpPr>
        <p:grpSpPr>
          <a:xfrm rot="0">
            <a:off x="-2182202" y="8104798"/>
            <a:ext cx="4678844" cy="5181363"/>
            <a:chOff x="0" y="0"/>
            <a:chExt cx="6238459" cy="6908484"/>
          </a:xfrm>
        </p:grpSpPr>
        <p:grpSp>
          <p:nvGrpSpPr>
            <p:cNvPr name="Group 23" id="23"/>
            <p:cNvGrpSpPr/>
            <p:nvPr/>
          </p:nvGrpSpPr>
          <p:grpSpPr>
            <a:xfrm rot="-2700000">
              <a:off x="852203" y="852203"/>
              <a:ext cx="4114800" cy="411480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25" id="25"/>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26" id="26"/>
            <p:cNvGrpSpPr/>
            <p:nvPr/>
          </p:nvGrpSpPr>
          <p:grpSpPr>
            <a:xfrm rot="2700000">
              <a:off x="1271456" y="1941481"/>
              <a:ext cx="4114800" cy="411480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28" id="28"/>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9" id="29"/>
          <p:cNvGrpSpPr/>
          <p:nvPr/>
        </p:nvGrpSpPr>
        <p:grpSpPr>
          <a:xfrm rot="0">
            <a:off x="11478934" y="0"/>
            <a:ext cx="6809066" cy="10287000"/>
            <a:chOff x="0" y="0"/>
            <a:chExt cx="1793334" cy="2709333"/>
          </a:xfrm>
        </p:grpSpPr>
        <p:sp>
          <p:nvSpPr>
            <p:cNvPr name="Freeform 30" id="30"/>
            <p:cNvSpPr/>
            <p:nvPr/>
          </p:nvSpPr>
          <p:spPr>
            <a:xfrm flipH="false" flipV="false" rot="0">
              <a:off x="0" y="0"/>
              <a:ext cx="1793334" cy="2709333"/>
            </a:xfrm>
            <a:custGeom>
              <a:avLst/>
              <a:gdLst/>
              <a:ahLst/>
              <a:cxnLst/>
              <a:rect r="r" b="b" t="t" l="l"/>
              <a:pathLst>
                <a:path h="2709333" w="1793334">
                  <a:moveTo>
                    <a:pt x="0" y="0"/>
                  </a:moveTo>
                  <a:lnTo>
                    <a:pt x="1793334" y="0"/>
                  </a:lnTo>
                  <a:lnTo>
                    <a:pt x="1793334" y="2709333"/>
                  </a:lnTo>
                  <a:lnTo>
                    <a:pt x="0" y="2709333"/>
                  </a:lnTo>
                  <a:close/>
                </a:path>
              </a:pathLst>
            </a:custGeom>
            <a:solidFill>
              <a:srgbClr val="86A8C5"/>
            </a:solidFill>
          </p:spPr>
        </p:sp>
        <p:sp>
          <p:nvSpPr>
            <p:cNvPr name="TextBox 31" id="31"/>
            <p:cNvSpPr txBox="true"/>
            <p:nvPr/>
          </p:nvSpPr>
          <p:spPr>
            <a:xfrm>
              <a:off x="0" y="-38100"/>
              <a:ext cx="1793334" cy="2747433"/>
            </a:xfrm>
            <a:prstGeom prst="rect">
              <a:avLst/>
            </a:prstGeom>
          </p:spPr>
          <p:txBody>
            <a:bodyPr anchor="ctr" rtlCol="false" tIns="50800" lIns="50800" bIns="50800" rIns="50800"/>
            <a:lstStyle/>
            <a:p>
              <a:pPr algn="ctr">
                <a:lnSpc>
                  <a:spcPts val="2239"/>
                </a:lnSpc>
              </a:pPr>
            </a:p>
          </p:txBody>
        </p:sp>
      </p:grpSp>
      <p:sp>
        <p:nvSpPr>
          <p:cNvPr name="Freeform 32" id="32"/>
          <p:cNvSpPr/>
          <p:nvPr/>
        </p:nvSpPr>
        <p:spPr>
          <a:xfrm flipH="false" flipV="false" rot="0">
            <a:off x="10532080" y="64770"/>
            <a:ext cx="7755920" cy="9563020"/>
          </a:xfrm>
          <a:custGeom>
            <a:avLst/>
            <a:gdLst/>
            <a:ahLst/>
            <a:cxnLst/>
            <a:rect r="r" b="b" t="t" l="l"/>
            <a:pathLst>
              <a:path h="9563020" w="7755920">
                <a:moveTo>
                  <a:pt x="0" y="0"/>
                </a:moveTo>
                <a:lnTo>
                  <a:pt x="7755920" y="0"/>
                </a:lnTo>
                <a:lnTo>
                  <a:pt x="7755920" y="9563020"/>
                </a:lnTo>
                <a:lnTo>
                  <a:pt x="0" y="9563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3" id="33"/>
          <p:cNvSpPr txBox="true"/>
          <p:nvPr/>
        </p:nvSpPr>
        <p:spPr>
          <a:xfrm rot="0">
            <a:off x="1028700" y="895350"/>
            <a:ext cx="5397996" cy="1226820"/>
          </a:xfrm>
          <a:prstGeom prst="rect">
            <a:avLst/>
          </a:prstGeom>
        </p:spPr>
        <p:txBody>
          <a:bodyPr anchor="t" rtlCol="false" tIns="0" lIns="0" bIns="0" rIns="0">
            <a:spAutoFit/>
          </a:bodyPr>
          <a:lstStyle/>
          <a:p>
            <a:pPr algn="ctr">
              <a:lnSpc>
                <a:spcPts val="10080"/>
              </a:lnSpc>
            </a:pPr>
            <a:r>
              <a:rPr lang="en-US" sz="7200" b="true">
                <a:solidFill>
                  <a:srgbClr val="FFFFFF"/>
                </a:solidFill>
                <a:latin typeface="Cardo Bold"/>
                <a:ea typeface="Cardo Bold"/>
                <a:cs typeface="Cardo Bold"/>
                <a:sym typeface="Cardo Bold"/>
              </a:rPr>
              <a:t>Introduction</a:t>
            </a:r>
          </a:p>
        </p:txBody>
      </p:sp>
      <p:sp>
        <p:nvSpPr>
          <p:cNvPr name="TextBox 34" id="34"/>
          <p:cNvSpPr txBox="true"/>
          <p:nvPr/>
        </p:nvSpPr>
        <p:spPr>
          <a:xfrm rot="0">
            <a:off x="1028700" y="2350199"/>
            <a:ext cx="10450234" cy="887095"/>
          </a:xfrm>
          <a:prstGeom prst="rect">
            <a:avLst/>
          </a:prstGeom>
        </p:spPr>
        <p:txBody>
          <a:bodyPr anchor="t" rtlCol="false" tIns="0" lIns="0" bIns="0" rIns="0">
            <a:spAutoFit/>
          </a:bodyPr>
          <a:lstStyle/>
          <a:p>
            <a:pPr algn="l">
              <a:lnSpc>
                <a:spcPts val="7279"/>
              </a:lnSpc>
            </a:pPr>
            <a:r>
              <a:rPr lang="en-US" sz="5199" b="true">
                <a:solidFill>
                  <a:srgbClr val="FFFFFF"/>
                </a:solidFill>
                <a:latin typeface="Cardo Bold"/>
                <a:ea typeface="Cardo Bold"/>
                <a:cs typeface="Cardo Bold"/>
                <a:sym typeface="Cardo Bold"/>
              </a:rPr>
              <a:t>Who is an influential person?</a:t>
            </a:r>
          </a:p>
        </p:txBody>
      </p:sp>
      <p:sp>
        <p:nvSpPr>
          <p:cNvPr name="TextBox 35" id="35"/>
          <p:cNvSpPr txBox="true"/>
          <p:nvPr/>
        </p:nvSpPr>
        <p:spPr>
          <a:xfrm rot="0">
            <a:off x="1028700" y="4783951"/>
            <a:ext cx="11099516" cy="887095"/>
          </a:xfrm>
          <a:prstGeom prst="rect">
            <a:avLst/>
          </a:prstGeom>
        </p:spPr>
        <p:txBody>
          <a:bodyPr anchor="t" rtlCol="false" tIns="0" lIns="0" bIns="0" rIns="0">
            <a:spAutoFit/>
          </a:bodyPr>
          <a:lstStyle/>
          <a:p>
            <a:pPr algn="l">
              <a:lnSpc>
                <a:spcPts val="7279"/>
              </a:lnSpc>
            </a:pPr>
            <a:r>
              <a:rPr lang="en-US" sz="5199" b="true">
                <a:solidFill>
                  <a:srgbClr val="FFFFFF"/>
                </a:solidFill>
                <a:latin typeface="Cardo Bold"/>
                <a:ea typeface="Cardo Bold"/>
                <a:cs typeface="Cardo Bold"/>
                <a:sym typeface="Cardo Bold"/>
              </a:rPr>
              <a:t>What makes an influential person?</a:t>
            </a:r>
          </a:p>
        </p:txBody>
      </p:sp>
      <p:sp>
        <p:nvSpPr>
          <p:cNvPr name="TextBox 36" id="36"/>
          <p:cNvSpPr txBox="true"/>
          <p:nvPr/>
        </p:nvSpPr>
        <p:spPr>
          <a:xfrm rot="0">
            <a:off x="1028700" y="7217703"/>
            <a:ext cx="10856035" cy="887095"/>
          </a:xfrm>
          <a:prstGeom prst="rect">
            <a:avLst/>
          </a:prstGeom>
        </p:spPr>
        <p:txBody>
          <a:bodyPr anchor="t" rtlCol="false" tIns="0" lIns="0" bIns="0" rIns="0">
            <a:spAutoFit/>
          </a:bodyPr>
          <a:lstStyle/>
          <a:p>
            <a:pPr algn="l">
              <a:lnSpc>
                <a:spcPts val="7279"/>
              </a:lnSpc>
            </a:pPr>
            <a:r>
              <a:rPr lang="en-US" sz="5199" b="true">
                <a:solidFill>
                  <a:srgbClr val="FFFFFF"/>
                </a:solidFill>
                <a:latin typeface="Cardo Bold"/>
                <a:ea typeface="Cardo Bold"/>
                <a:cs typeface="Cardo Bold"/>
                <a:sym typeface="Cardo Bold"/>
              </a:rPr>
              <a:t>What makes an influential person?</a:t>
            </a:r>
          </a:p>
        </p:txBody>
      </p:sp>
      <p:sp>
        <p:nvSpPr>
          <p:cNvPr name="TextBox 37" id="37"/>
          <p:cNvSpPr txBox="true"/>
          <p:nvPr/>
        </p:nvSpPr>
        <p:spPr>
          <a:xfrm rot="0">
            <a:off x="11005239" y="9589690"/>
            <a:ext cx="7282761" cy="549910"/>
          </a:xfrm>
          <a:prstGeom prst="rect">
            <a:avLst/>
          </a:prstGeom>
        </p:spPr>
        <p:txBody>
          <a:bodyPr anchor="t" rtlCol="false" tIns="0" lIns="0" bIns="0" rIns="0">
            <a:spAutoFit/>
          </a:bodyPr>
          <a:lstStyle/>
          <a:p>
            <a:pPr algn="l">
              <a:lnSpc>
                <a:spcPts val="2239"/>
              </a:lnSpc>
            </a:pPr>
            <a:r>
              <a:rPr lang="en-US" sz="1599" b="true">
                <a:solidFill>
                  <a:srgbClr val="0B0C0F"/>
                </a:solidFill>
                <a:latin typeface="Cardo Bold"/>
                <a:ea typeface="Cardo Bold"/>
                <a:cs typeface="Cardo Bold"/>
                <a:sym typeface="Cardo Bold"/>
              </a:rPr>
              <a:t>Fig3. Leadership</a:t>
            </a:r>
          </a:p>
          <a:p>
            <a:pPr algn="l">
              <a:lnSpc>
                <a:spcPts val="2239"/>
              </a:lnSpc>
            </a:pPr>
            <a:r>
              <a:rPr lang="en-US" sz="1599" b="true">
                <a:solidFill>
                  <a:srgbClr val="0B0C0F"/>
                </a:solidFill>
                <a:latin typeface="Cardo Bold"/>
                <a:ea typeface="Cardo Bold"/>
                <a:cs typeface="Cardo Bold"/>
                <a:sym typeface="Cardo Bold"/>
              </a:rPr>
              <a:t>Source. Aunun Studios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166" r="0" b="-8166"/>
            </a:stretch>
          </a:blipFill>
        </p:spPr>
      </p:sp>
      <p:grpSp>
        <p:nvGrpSpPr>
          <p:cNvPr name="Group 3" id="3"/>
          <p:cNvGrpSpPr/>
          <p:nvPr/>
        </p:nvGrpSpPr>
        <p:grpSpPr>
          <a:xfrm rot="0">
            <a:off x="-1335108" y="-1352219"/>
            <a:ext cx="4224218" cy="4426267"/>
            <a:chOff x="0" y="0"/>
            <a:chExt cx="5632291" cy="5901690"/>
          </a:xfrm>
        </p:grpSpPr>
        <p:grpSp>
          <p:nvGrpSpPr>
            <p:cNvPr name="Group 4" id="4"/>
            <p:cNvGrpSpPr/>
            <p:nvPr/>
          </p:nvGrpSpPr>
          <p:grpSpPr>
            <a:xfrm rot="-2700000">
              <a:off x="84725" y="2980139"/>
              <a:ext cx="6134037" cy="882009"/>
              <a:chOff x="0" y="0"/>
              <a:chExt cx="1211662" cy="174224"/>
            </a:xfrm>
          </p:grpSpPr>
          <p:sp>
            <p:nvSpPr>
              <p:cNvPr name="Freeform 5" id="5"/>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alpha val="0"/>
                </a:srgbClr>
              </a:solidFill>
            </p:spPr>
          </p:sp>
          <p:sp>
            <p:nvSpPr>
              <p:cNvPr name="TextBox 6" id="6"/>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2700000">
              <a:off x="-250873" y="2509840"/>
              <a:ext cx="6134037" cy="882009"/>
              <a:chOff x="0" y="0"/>
              <a:chExt cx="1211662" cy="174224"/>
            </a:xfrm>
          </p:grpSpPr>
          <p:sp>
            <p:nvSpPr>
              <p:cNvPr name="Freeform 8" id="8"/>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alpha val="0"/>
                </a:srgbClr>
              </a:solidFill>
            </p:spPr>
          </p:sp>
          <p:sp>
            <p:nvSpPr>
              <p:cNvPr name="TextBox 9" id="9"/>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2700000">
              <a:off x="-586472" y="2039542"/>
              <a:ext cx="6134037" cy="882009"/>
              <a:chOff x="0" y="0"/>
              <a:chExt cx="1211662" cy="174224"/>
            </a:xfrm>
          </p:grpSpPr>
          <p:sp>
            <p:nvSpPr>
              <p:cNvPr name="Freeform 11" id="11"/>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alpha val="0"/>
                </a:srgbClr>
              </a:solidFill>
            </p:spPr>
          </p:sp>
          <p:sp>
            <p:nvSpPr>
              <p:cNvPr name="TextBox 12" id="12"/>
              <p:cNvSpPr txBox="true"/>
              <p:nvPr/>
            </p:nvSpPr>
            <p:spPr>
              <a:xfrm>
                <a:off x="0" y="-38100"/>
                <a:ext cx="1211662" cy="212324"/>
              </a:xfrm>
              <a:prstGeom prst="rect">
                <a:avLst/>
              </a:prstGeom>
            </p:spPr>
            <p:txBody>
              <a:bodyPr anchor="ctr" rtlCol="false" tIns="50800" lIns="50800" bIns="50800" rIns="50800"/>
              <a:lstStyle/>
              <a:p>
                <a:pPr algn="ctr">
                  <a:lnSpc>
                    <a:spcPts val="2239"/>
                  </a:lnSpc>
                </a:pPr>
              </a:p>
            </p:txBody>
          </p:sp>
        </p:grpSp>
      </p:grpSp>
      <p:grpSp>
        <p:nvGrpSpPr>
          <p:cNvPr name="Group 13" id="13"/>
          <p:cNvGrpSpPr/>
          <p:nvPr/>
        </p:nvGrpSpPr>
        <p:grpSpPr>
          <a:xfrm rot="0">
            <a:off x="-2182202" y="8104798"/>
            <a:ext cx="4678844" cy="5181363"/>
            <a:chOff x="0" y="0"/>
            <a:chExt cx="6238459" cy="6908484"/>
          </a:xfrm>
        </p:grpSpPr>
        <p:grpSp>
          <p:nvGrpSpPr>
            <p:cNvPr name="Group 14" id="14"/>
            <p:cNvGrpSpPr/>
            <p:nvPr/>
          </p:nvGrpSpPr>
          <p:grpSpPr>
            <a:xfrm rot="-2700000">
              <a:off x="852203" y="852203"/>
              <a:ext cx="4114800" cy="41148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6" id="16"/>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17" id="17"/>
            <p:cNvGrpSpPr/>
            <p:nvPr/>
          </p:nvGrpSpPr>
          <p:grpSpPr>
            <a:xfrm rot="2700000">
              <a:off x="1271456" y="1941481"/>
              <a:ext cx="4114800" cy="41148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9" id="19"/>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0" id="20"/>
          <p:cNvGrpSpPr/>
          <p:nvPr/>
        </p:nvGrpSpPr>
        <p:grpSpPr>
          <a:xfrm rot="0">
            <a:off x="16227027" y="-2182202"/>
            <a:ext cx="5050973" cy="4478072"/>
            <a:chOff x="0" y="0"/>
            <a:chExt cx="6734630" cy="5970762"/>
          </a:xfrm>
        </p:grpSpPr>
        <p:grpSp>
          <p:nvGrpSpPr>
            <p:cNvPr name="Group 21" id="21"/>
            <p:cNvGrpSpPr/>
            <p:nvPr/>
          </p:nvGrpSpPr>
          <p:grpSpPr>
            <a:xfrm rot="2700000">
              <a:off x="852203" y="852203"/>
              <a:ext cx="4114800" cy="411480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23" id="23"/>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nvGrpSpPr>
            <p:cNvPr name="Group 24" id="24"/>
            <p:cNvGrpSpPr/>
            <p:nvPr/>
          </p:nvGrpSpPr>
          <p:grpSpPr>
            <a:xfrm rot="2700000">
              <a:off x="1767627" y="1003759"/>
              <a:ext cx="4114800" cy="411480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26" id="26"/>
              <p:cNvSpPr txBox="true"/>
              <p:nvPr/>
            </p:nvSpPr>
            <p:spPr>
              <a:xfrm>
                <a:off x="0" y="-38100"/>
                <a:ext cx="812800" cy="850900"/>
              </a:xfrm>
              <a:prstGeom prst="rect">
                <a:avLst/>
              </a:prstGeom>
            </p:spPr>
            <p:txBody>
              <a:bodyPr anchor="ctr" rtlCol="false" tIns="50800" lIns="50800" bIns="50800" rIns="50800"/>
              <a:lstStyle/>
              <a:p>
                <a:pPr algn="ctr">
                  <a:lnSpc>
                    <a:spcPts val="2239"/>
                  </a:lnSpc>
                </a:pPr>
              </a:p>
            </p:txBody>
          </p:sp>
        </p:grpSp>
      </p:grpSp>
      <p:grpSp>
        <p:nvGrpSpPr>
          <p:cNvPr name="Group 27" id="27"/>
          <p:cNvGrpSpPr/>
          <p:nvPr/>
        </p:nvGrpSpPr>
        <p:grpSpPr>
          <a:xfrm rot="-2700000">
            <a:off x="15685912" y="9457661"/>
            <a:ext cx="4100481" cy="661507"/>
            <a:chOff x="0" y="0"/>
            <a:chExt cx="1079962" cy="174224"/>
          </a:xfrm>
        </p:grpSpPr>
        <p:sp>
          <p:nvSpPr>
            <p:cNvPr name="Freeform 28" id="28"/>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29" id="29"/>
            <p:cNvSpPr txBox="true"/>
            <p:nvPr/>
          </p:nvSpPr>
          <p:spPr>
            <a:xfrm>
              <a:off x="0" y="-38100"/>
              <a:ext cx="1079962" cy="212324"/>
            </a:xfrm>
            <a:prstGeom prst="rect">
              <a:avLst/>
            </a:prstGeom>
          </p:spPr>
          <p:txBody>
            <a:bodyPr anchor="ctr" rtlCol="false" tIns="50800" lIns="50800" bIns="50800" rIns="50800"/>
            <a:lstStyle/>
            <a:p>
              <a:pPr algn="ctr">
                <a:lnSpc>
                  <a:spcPts val="2239"/>
                </a:lnSpc>
              </a:pPr>
            </a:p>
          </p:txBody>
        </p:sp>
      </p:grpSp>
      <p:sp>
        <p:nvSpPr>
          <p:cNvPr name="TextBox 30" id="30"/>
          <p:cNvSpPr txBox="true"/>
          <p:nvPr/>
        </p:nvSpPr>
        <p:spPr>
          <a:xfrm rot="0">
            <a:off x="487868" y="1313300"/>
            <a:ext cx="11669774" cy="8615949"/>
          </a:xfrm>
          <a:prstGeom prst="rect">
            <a:avLst/>
          </a:prstGeom>
        </p:spPr>
        <p:txBody>
          <a:bodyPr anchor="t" rtlCol="false" tIns="0" lIns="0" bIns="0" rIns="0">
            <a:spAutoFit/>
          </a:bodyPr>
          <a:lstStyle/>
          <a:p>
            <a:pPr algn="l" marL="786705" indent="-393352" lvl="1">
              <a:lnSpc>
                <a:spcPts val="7105"/>
              </a:lnSpc>
              <a:buFont typeface="Arial"/>
              <a:buChar char="•"/>
            </a:pPr>
            <a:r>
              <a:rPr lang="en-US" sz="3643" spc="14">
                <a:solidFill>
                  <a:srgbClr val="FFFFFF"/>
                </a:solidFill>
                <a:latin typeface="Cardo"/>
                <a:ea typeface="Cardo"/>
                <a:cs typeface="Cardo"/>
                <a:sym typeface="Cardo"/>
              </a:rPr>
              <a:t>A Bangladesh citizen</a:t>
            </a:r>
          </a:p>
          <a:p>
            <a:pPr algn="l">
              <a:lnSpc>
                <a:spcPts val="7105"/>
              </a:lnSpc>
            </a:pPr>
          </a:p>
          <a:p>
            <a:pPr algn="l" marL="786705" indent="-393352" lvl="1">
              <a:lnSpc>
                <a:spcPts val="7105"/>
              </a:lnSpc>
              <a:buFont typeface="Arial"/>
              <a:buChar char="•"/>
            </a:pPr>
            <a:r>
              <a:rPr lang="en-US" sz="3643" spc="14">
                <a:solidFill>
                  <a:srgbClr val="FFFFFF"/>
                </a:solidFill>
                <a:latin typeface="Cardo"/>
                <a:ea typeface="Cardo"/>
                <a:cs typeface="Cardo"/>
                <a:sym typeface="Cardo"/>
              </a:rPr>
              <a:t>Nobel Peace prize winner 2006</a:t>
            </a:r>
          </a:p>
          <a:p>
            <a:pPr algn="l">
              <a:lnSpc>
                <a:spcPts val="7105"/>
              </a:lnSpc>
            </a:pPr>
          </a:p>
          <a:p>
            <a:pPr algn="l" marL="786705" indent="-393352" lvl="1">
              <a:lnSpc>
                <a:spcPts val="7105"/>
              </a:lnSpc>
              <a:buFont typeface="Arial"/>
              <a:buChar char="•"/>
            </a:pPr>
            <a:r>
              <a:rPr lang="en-US" sz="3643" spc="14">
                <a:solidFill>
                  <a:srgbClr val="FFFFFF"/>
                </a:solidFill>
                <a:latin typeface="Cardo"/>
                <a:ea typeface="Cardo"/>
                <a:cs typeface="Cardo"/>
                <a:sym typeface="Cardo"/>
              </a:rPr>
              <a:t>Founder of Grameen Bank in 1983</a:t>
            </a:r>
          </a:p>
          <a:p>
            <a:pPr algn="l">
              <a:lnSpc>
                <a:spcPts val="7105"/>
              </a:lnSpc>
            </a:pPr>
          </a:p>
          <a:p>
            <a:pPr algn="l" marL="786705" indent="-393352" lvl="1">
              <a:lnSpc>
                <a:spcPts val="7105"/>
              </a:lnSpc>
              <a:buFont typeface="Arial"/>
              <a:buChar char="•"/>
            </a:pPr>
            <a:r>
              <a:rPr lang="en-US" sz="3643" spc="14">
                <a:solidFill>
                  <a:srgbClr val="FFFFFF"/>
                </a:solidFill>
                <a:latin typeface="Cardo"/>
                <a:ea typeface="Cardo"/>
                <a:cs typeface="Cardo"/>
                <a:sym typeface="Cardo"/>
              </a:rPr>
              <a:t>Former Chancellor of Glasgow Caledonian University (2012-2018)</a:t>
            </a:r>
          </a:p>
          <a:p>
            <a:pPr algn="l">
              <a:lnSpc>
                <a:spcPts val="5155"/>
              </a:lnSpc>
            </a:pPr>
          </a:p>
          <a:p>
            <a:pPr algn="l" marL="786705" indent="-393352" lvl="1">
              <a:lnSpc>
                <a:spcPts val="7105"/>
              </a:lnSpc>
              <a:buFont typeface="Arial"/>
              <a:buChar char="•"/>
            </a:pPr>
            <a:r>
              <a:rPr lang="en-US" sz="3643" spc="14">
                <a:solidFill>
                  <a:srgbClr val="FFFFFF"/>
                </a:solidFill>
                <a:latin typeface="Cardo"/>
                <a:ea typeface="Cardo"/>
                <a:cs typeface="Cardo"/>
                <a:sym typeface="Cardo"/>
              </a:rPr>
              <a:t>Current Chief adviser of interim government</a:t>
            </a:r>
          </a:p>
        </p:txBody>
      </p:sp>
      <p:sp>
        <p:nvSpPr>
          <p:cNvPr name="TextBox 31" id="31"/>
          <p:cNvSpPr txBox="true"/>
          <p:nvPr/>
        </p:nvSpPr>
        <p:spPr>
          <a:xfrm rot="0">
            <a:off x="487868" y="268039"/>
            <a:ext cx="11091508"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Dr. Muhammad Yunus</a:t>
            </a:r>
          </a:p>
        </p:txBody>
      </p:sp>
      <p:sp>
        <p:nvSpPr>
          <p:cNvPr name="TextBox 32" id="32"/>
          <p:cNvSpPr txBox="true"/>
          <p:nvPr/>
        </p:nvSpPr>
        <p:spPr>
          <a:xfrm rot="0">
            <a:off x="14873689" y="9635244"/>
            <a:ext cx="3414311" cy="549910"/>
          </a:xfrm>
          <a:prstGeom prst="rect">
            <a:avLst/>
          </a:prstGeom>
        </p:spPr>
        <p:txBody>
          <a:bodyPr anchor="t" rtlCol="false" tIns="0" lIns="0" bIns="0" rIns="0">
            <a:spAutoFit/>
          </a:bodyPr>
          <a:lstStyle/>
          <a:p>
            <a:pPr algn="l">
              <a:lnSpc>
                <a:spcPts val="2239"/>
              </a:lnSpc>
            </a:pPr>
            <a:r>
              <a:rPr lang="en-US" sz="1599" b="true">
                <a:solidFill>
                  <a:srgbClr val="FFFFFF"/>
                </a:solidFill>
                <a:latin typeface="Cardo Bold"/>
                <a:ea typeface="Cardo Bold"/>
                <a:cs typeface="Cardo Bold"/>
                <a:sym typeface="Cardo Bold"/>
              </a:rPr>
              <a:t>Fig4. Muhammad Yunus</a:t>
            </a:r>
          </a:p>
          <a:p>
            <a:pPr algn="l">
              <a:lnSpc>
                <a:spcPts val="2239"/>
              </a:lnSpc>
            </a:pPr>
            <a:r>
              <a:rPr lang="en-US" sz="1599" b="true">
                <a:solidFill>
                  <a:srgbClr val="FFFFFF"/>
                </a:solidFill>
                <a:latin typeface="Cardo Bold"/>
                <a:ea typeface="Cardo Bold"/>
                <a:cs typeface="Cardo Bold"/>
                <a:sym typeface="Cardo Bold"/>
              </a:rPr>
              <a:t>Source. www.nobelprize.org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86A8C5"/>
        </a:solidFill>
      </p:bgPr>
    </p:bg>
    <p:spTree>
      <p:nvGrpSpPr>
        <p:cNvPr id="1" name=""/>
        <p:cNvGrpSpPr/>
        <p:nvPr/>
      </p:nvGrpSpPr>
      <p:grpSpPr>
        <a:xfrm>
          <a:off x="0" y="0"/>
          <a:ext cx="0" cy="0"/>
          <a:chOff x="0" y="0"/>
          <a:chExt cx="0" cy="0"/>
        </a:xfrm>
      </p:grpSpPr>
      <p:grpSp>
        <p:nvGrpSpPr>
          <p:cNvPr name="Group 2" id="2"/>
          <p:cNvGrpSpPr/>
          <p:nvPr/>
        </p:nvGrpSpPr>
        <p:grpSpPr>
          <a:xfrm rot="0">
            <a:off x="-2182202" y="-2182202"/>
            <a:ext cx="23460202" cy="15468363"/>
            <a:chOff x="0" y="0"/>
            <a:chExt cx="31280270" cy="20624484"/>
          </a:xfrm>
        </p:grpSpPr>
        <p:grpSp>
          <p:nvGrpSpPr>
            <p:cNvPr name="Group 3" id="3"/>
            <p:cNvGrpSpPr/>
            <p:nvPr/>
          </p:nvGrpSpPr>
          <p:grpSpPr>
            <a:xfrm rot="-2700000">
              <a:off x="23824152" y="15519818"/>
              <a:ext cx="5467308" cy="882009"/>
              <a:chOff x="0" y="0"/>
              <a:chExt cx="1079962" cy="174224"/>
            </a:xfrm>
          </p:grpSpPr>
          <p:sp>
            <p:nvSpPr>
              <p:cNvPr name="Freeform 4" id="4"/>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5" id="5"/>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6" id="6"/>
            <p:cNvGrpSpPr/>
            <p:nvPr/>
          </p:nvGrpSpPr>
          <p:grpSpPr>
            <a:xfrm rot="2700000">
              <a:off x="25397843" y="852203"/>
              <a:ext cx="4114800" cy="41148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8" id="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9" id="9"/>
            <p:cNvGrpSpPr/>
            <p:nvPr/>
          </p:nvGrpSpPr>
          <p:grpSpPr>
            <a:xfrm rot="2700000">
              <a:off x="26313267" y="1003759"/>
              <a:ext cx="4114800" cy="41148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1" id="11"/>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2" id="12"/>
            <p:cNvGrpSpPr/>
            <p:nvPr/>
          </p:nvGrpSpPr>
          <p:grpSpPr>
            <a:xfrm rot="-2700000">
              <a:off x="852203" y="14568203"/>
              <a:ext cx="4114800" cy="41148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4" id="14"/>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5" id="15"/>
            <p:cNvGrpSpPr/>
            <p:nvPr/>
          </p:nvGrpSpPr>
          <p:grpSpPr>
            <a:xfrm rot="2700000">
              <a:off x="1271456" y="15657481"/>
              <a:ext cx="4114800" cy="41148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7" id="17"/>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8" id="18"/>
            <p:cNvGrpSpPr/>
            <p:nvPr/>
          </p:nvGrpSpPr>
          <p:grpSpPr>
            <a:xfrm rot="-2700000">
              <a:off x="1214185" y="4086783"/>
              <a:ext cx="6134037" cy="882009"/>
              <a:chOff x="0" y="0"/>
              <a:chExt cx="1211662" cy="174224"/>
            </a:xfrm>
          </p:grpSpPr>
          <p:sp>
            <p:nvSpPr>
              <p:cNvPr name="Freeform 19" id="19"/>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0" id="20"/>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1" id="21"/>
            <p:cNvGrpSpPr/>
            <p:nvPr/>
          </p:nvGrpSpPr>
          <p:grpSpPr>
            <a:xfrm rot="-2700000">
              <a:off x="878586" y="3616485"/>
              <a:ext cx="6134037" cy="882009"/>
              <a:chOff x="0" y="0"/>
              <a:chExt cx="1211662" cy="174224"/>
            </a:xfrm>
          </p:grpSpPr>
          <p:sp>
            <p:nvSpPr>
              <p:cNvPr name="Freeform 22" id="22"/>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3" id="23"/>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4" id="24"/>
            <p:cNvGrpSpPr/>
            <p:nvPr/>
          </p:nvGrpSpPr>
          <p:grpSpPr>
            <a:xfrm rot="-2700000">
              <a:off x="542988" y="3146187"/>
              <a:ext cx="6134037" cy="882009"/>
              <a:chOff x="0" y="0"/>
              <a:chExt cx="1211662" cy="174224"/>
            </a:xfrm>
          </p:grpSpPr>
          <p:sp>
            <p:nvSpPr>
              <p:cNvPr name="Freeform 25" id="25"/>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6" id="26"/>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7" id="27"/>
          <p:cNvSpPr txBox="true"/>
          <p:nvPr/>
        </p:nvSpPr>
        <p:spPr>
          <a:xfrm rot="0">
            <a:off x="826807" y="3727360"/>
            <a:ext cx="17259300" cy="4813300"/>
          </a:xfrm>
          <a:prstGeom prst="rect">
            <a:avLst/>
          </a:prstGeom>
        </p:spPr>
        <p:txBody>
          <a:bodyPr anchor="t" rtlCol="false" tIns="0" lIns="0" bIns="0" rIns="0">
            <a:spAutoFit/>
          </a:bodyPr>
          <a:lstStyle/>
          <a:p>
            <a:pPr algn="l">
              <a:lnSpc>
                <a:spcPts val="7699"/>
              </a:lnSpc>
            </a:pPr>
            <a:r>
              <a:rPr lang="en-US" sz="5499">
                <a:solidFill>
                  <a:srgbClr val="FFFFFF"/>
                </a:solidFill>
                <a:latin typeface="Cardo"/>
                <a:ea typeface="Cardo"/>
                <a:cs typeface="Cardo"/>
                <a:sym typeface="Cardo"/>
              </a:rPr>
              <a:t>Introduction Muhammad Yunus The Creation of Grameen Bank &amp; Microfinance ⁠Impact of Dr. Yunus’s Work &amp; Global Recognition Criticism, Challenges, and Future of Microfinance Conclusion</a:t>
            </a:r>
          </a:p>
          <a:p>
            <a:pPr algn="l">
              <a:lnSpc>
                <a:spcPts val="7699"/>
              </a:lnSpc>
            </a:pPr>
          </a:p>
        </p:txBody>
      </p:sp>
      <p:sp>
        <p:nvSpPr>
          <p:cNvPr name="Freeform 28" id="28"/>
          <p:cNvSpPr/>
          <p:nvPr/>
        </p:nvSpPr>
        <p:spPr>
          <a:xfrm flipH="false" flipV="false" rot="0">
            <a:off x="9144000" y="1028700"/>
            <a:ext cx="7399231" cy="2461435"/>
          </a:xfrm>
          <a:custGeom>
            <a:avLst/>
            <a:gdLst/>
            <a:ahLst/>
            <a:cxnLst/>
            <a:rect r="r" b="b" t="t" l="l"/>
            <a:pathLst>
              <a:path h="2461435" w="7399231">
                <a:moveTo>
                  <a:pt x="0" y="0"/>
                </a:moveTo>
                <a:lnTo>
                  <a:pt x="7399231" y="0"/>
                </a:lnTo>
                <a:lnTo>
                  <a:pt x="7399231" y="2461435"/>
                </a:lnTo>
                <a:lnTo>
                  <a:pt x="0" y="2461435"/>
                </a:lnTo>
                <a:lnTo>
                  <a:pt x="0" y="0"/>
                </a:lnTo>
                <a:close/>
              </a:path>
            </a:pathLst>
          </a:custGeom>
          <a:blipFill>
            <a:blip r:embed="rId2"/>
            <a:stretch>
              <a:fillRect l="0" t="-367" r="0" b="-367"/>
            </a:stretch>
          </a:blipFill>
        </p:spPr>
      </p:sp>
      <p:sp>
        <p:nvSpPr>
          <p:cNvPr name="TextBox 29" id="29"/>
          <p:cNvSpPr txBox="true"/>
          <p:nvPr/>
        </p:nvSpPr>
        <p:spPr>
          <a:xfrm rot="0">
            <a:off x="826807" y="559039"/>
            <a:ext cx="11091508"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Grameen Bank</a:t>
            </a:r>
          </a:p>
        </p:txBody>
      </p:sp>
      <p:sp>
        <p:nvSpPr>
          <p:cNvPr name="TextBox 30" id="30"/>
          <p:cNvSpPr txBox="true"/>
          <p:nvPr/>
        </p:nvSpPr>
        <p:spPr>
          <a:xfrm rot="0">
            <a:off x="826807" y="2260510"/>
            <a:ext cx="5496139" cy="1038225"/>
          </a:xfrm>
          <a:prstGeom prst="rect">
            <a:avLst/>
          </a:prstGeom>
        </p:spPr>
        <p:txBody>
          <a:bodyPr anchor="t" rtlCol="false" tIns="0" lIns="0" bIns="0" rIns="0">
            <a:spAutoFit/>
          </a:bodyPr>
          <a:lstStyle/>
          <a:p>
            <a:pPr algn="just">
              <a:lnSpc>
                <a:spcPts val="8400"/>
              </a:lnSpc>
            </a:pPr>
            <a:r>
              <a:rPr lang="en-US" sz="6000" b="true">
                <a:solidFill>
                  <a:srgbClr val="FFFFFF"/>
                </a:solidFill>
                <a:latin typeface="Cardo Bold"/>
                <a:ea typeface="Cardo Bold"/>
                <a:cs typeface="Cardo Bold"/>
                <a:sym typeface="Cardo Bold"/>
              </a:rPr>
              <a:t>History</a:t>
            </a:r>
          </a:p>
        </p:txBody>
      </p:sp>
      <p:sp>
        <p:nvSpPr>
          <p:cNvPr name="TextBox 31" id="31"/>
          <p:cNvSpPr txBox="true"/>
          <p:nvPr/>
        </p:nvSpPr>
        <p:spPr>
          <a:xfrm rot="0">
            <a:off x="9604643" y="3004730"/>
            <a:ext cx="6477945" cy="549910"/>
          </a:xfrm>
          <a:prstGeom prst="rect">
            <a:avLst/>
          </a:prstGeom>
        </p:spPr>
        <p:txBody>
          <a:bodyPr anchor="t" rtlCol="false" tIns="0" lIns="0" bIns="0" rIns="0">
            <a:spAutoFit/>
          </a:bodyPr>
          <a:lstStyle/>
          <a:p>
            <a:pPr algn="just">
              <a:lnSpc>
                <a:spcPts val="2239"/>
              </a:lnSpc>
            </a:pPr>
            <a:r>
              <a:rPr lang="en-US" sz="1599" b="true">
                <a:solidFill>
                  <a:srgbClr val="0B0C0F"/>
                </a:solidFill>
                <a:latin typeface="Cardo Bold"/>
                <a:ea typeface="Cardo Bold"/>
                <a:cs typeface="Cardo Bold"/>
                <a:sym typeface="Cardo Bold"/>
              </a:rPr>
              <a:t>Fig5. Grameen’s Bank logo</a:t>
            </a:r>
          </a:p>
          <a:p>
            <a:pPr algn="just">
              <a:lnSpc>
                <a:spcPts val="2239"/>
              </a:lnSpc>
            </a:pPr>
            <a:r>
              <a:rPr lang="en-US" sz="1599" b="true">
                <a:solidFill>
                  <a:srgbClr val="0B0C0F"/>
                </a:solidFill>
                <a:latin typeface="Cardo Bold"/>
                <a:ea typeface="Cardo Bold"/>
                <a:cs typeface="Cardo Bold"/>
                <a:sym typeface="Cardo Bold"/>
              </a:rPr>
              <a:t>Source. Wikimedia commons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873" r="0" b="-5873"/>
            </a:stretch>
          </a:blipFill>
        </p:spPr>
      </p:sp>
      <p:grpSp>
        <p:nvGrpSpPr>
          <p:cNvPr name="Group 3" id="3"/>
          <p:cNvGrpSpPr/>
          <p:nvPr/>
        </p:nvGrpSpPr>
        <p:grpSpPr>
          <a:xfrm rot="0">
            <a:off x="-2182202" y="-2136752"/>
            <a:ext cx="23460202" cy="15468363"/>
            <a:chOff x="0" y="0"/>
            <a:chExt cx="31280270" cy="20624484"/>
          </a:xfrm>
        </p:grpSpPr>
        <p:grpSp>
          <p:nvGrpSpPr>
            <p:cNvPr name="Group 4" id="4"/>
            <p:cNvGrpSpPr/>
            <p:nvPr/>
          </p:nvGrpSpPr>
          <p:grpSpPr>
            <a:xfrm rot="-2700000">
              <a:off x="23824152" y="15519818"/>
              <a:ext cx="5467308" cy="882009"/>
              <a:chOff x="0" y="0"/>
              <a:chExt cx="1079962" cy="174224"/>
            </a:xfrm>
          </p:grpSpPr>
          <p:sp>
            <p:nvSpPr>
              <p:cNvPr name="Freeform 5" id="5"/>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6" id="6"/>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7" id="7"/>
            <p:cNvGrpSpPr/>
            <p:nvPr/>
          </p:nvGrpSpPr>
          <p:grpSpPr>
            <a:xfrm rot="2700000">
              <a:off x="25397843" y="852203"/>
              <a:ext cx="4114800" cy="41148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9" id="9"/>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0" id="10"/>
            <p:cNvGrpSpPr/>
            <p:nvPr/>
          </p:nvGrpSpPr>
          <p:grpSpPr>
            <a:xfrm rot="2700000">
              <a:off x="26313267" y="1003759"/>
              <a:ext cx="4114800" cy="41148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2" id="12"/>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3" id="13"/>
            <p:cNvGrpSpPr/>
            <p:nvPr/>
          </p:nvGrpSpPr>
          <p:grpSpPr>
            <a:xfrm rot="-2700000">
              <a:off x="852203" y="14568203"/>
              <a:ext cx="4114800" cy="41148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5" id="15"/>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6" id="16"/>
            <p:cNvGrpSpPr/>
            <p:nvPr/>
          </p:nvGrpSpPr>
          <p:grpSpPr>
            <a:xfrm rot="2700000">
              <a:off x="1271456" y="15657481"/>
              <a:ext cx="4114800" cy="41148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8" id="1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9" id="19"/>
            <p:cNvGrpSpPr/>
            <p:nvPr/>
          </p:nvGrpSpPr>
          <p:grpSpPr>
            <a:xfrm rot="-2700000">
              <a:off x="1214185" y="4086783"/>
              <a:ext cx="6134037" cy="882009"/>
              <a:chOff x="0" y="0"/>
              <a:chExt cx="1211662" cy="174224"/>
            </a:xfrm>
          </p:grpSpPr>
          <p:sp>
            <p:nvSpPr>
              <p:cNvPr name="Freeform 20" id="2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1" id="21"/>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2" id="22"/>
            <p:cNvGrpSpPr/>
            <p:nvPr/>
          </p:nvGrpSpPr>
          <p:grpSpPr>
            <a:xfrm rot="-2700000">
              <a:off x="878586" y="3616485"/>
              <a:ext cx="6134037" cy="882009"/>
              <a:chOff x="0" y="0"/>
              <a:chExt cx="1211662" cy="174224"/>
            </a:xfrm>
          </p:grpSpPr>
          <p:sp>
            <p:nvSpPr>
              <p:cNvPr name="Freeform 23" id="23"/>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4" id="24"/>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5" id="25"/>
            <p:cNvGrpSpPr/>
            <p:nvPr/>
          </p:nvGrpSpPr>
          <p:grpSpPr>
            <a:xfrm rot="-2700000">
              <a:off x="542988" y="3146187"/>
              <a:ext cx="6134037" cy="882009"/>
              <a:chOff x="0" y="0"/>
              <a:chExt cx="1211662" cy="174224"/>
            </a:xfrm>
          </p:grpSpPr>
          <p:sp>
            <p:nvSpPr>
              <p:cNvPr name="Freeform 26" id="26"/>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7" id="27"/>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8" id="28"/>
          <p:cNvSpPr txBox="true"/>
          <p:nvPr/>
        </p:nvSpPr>
        <p:spPr>
          <a:xfrm rot="0">
            <a:off x="918249" y="3432511"/>
            <a:ext cx="17259300" cy="3841750"/>
          </a:xfrm>
          <a:prstGeom prst="rect">
            <a:avLst/>
          </a:prstGeom>
        </p:spPr>
        <p:txBody>
          <a:bodyPr anchor="t" rtlCol="false" tIns="0" lIns="0" bIns="0" rIns="0">
            <a:spAutoFit/>
          </a:bodyPr>
          <a:lstStyle/>
          <a:p>
            <a:pPr algn="l">
              <a:lnSpc>
                <a:spcPts val="7699"/>
              </a:lnSpc>
            </a:pPr>
            <a:r>
              <a:rPr lang="en-US" sz="5499">
                <a:solidFill>
                  <a:srgbClr val="FFFFFF"/>
                </a:solidFill>
                <a:latin typeface="Cardo"/>
                <a:ea typeface="Cardo"/>
                <a:cs typeface="Cardo"/>
                <a:sym typeface="Cardo"/>
              </a:rPr>
              <a:t>The objectives of Grameen bank summarized is the reduction of poverty by creating business and employment opportunities for local people for raw materials.</a:t>
            </a:r>
          </a:p>
        </p:txBody>
      </p:sp>
      <p:grpSp>
        <p:nvGrpSpPr>
          <p:cNvPr name="Group 29" id="29"/>
          <p:cNvGrpSpPr/>
          <p:nvPr/>
        </p:nvGrpSpPr>
        <p:grpSpPr>
          <a:xfrm rot="0">
            <a:off x="0" y="9791592"/>
            <a:ext cx="3983833" cy="495408"/>
            <a:chOff x="0" y="0"/>
            <a:chExt cx="1049240" cy="130478"/>
          </a:xfrm>
        </p:grpSpPr>
        <p:sp>
          <p:nvSpPr>
            <p:cNvPr name="Freeform 30" id="30"/>
            <p:cNvSpPr/>
            <p:nvPr/>
          </p:nvSpPr>
          <p:spPr>
            <a:xfrm flipH="false" flipV="false" rot="0">
              <a:off x="0" y="0"/>
              <a:ext cx="1049240" cy="130478"/>
            </a:xfrm>
            <a:custGeom>
              <a:avLst/>
              <a:gdLst/>
              <a:ahLst/>
              <a:cxnLst/>
              <a:rect r="r" b="b" t="t" l="l"/>
              <a:pathLst>
                <a:path h="130478" w="1049240">
                  <a:moveTo>
                    <a:pt x="0" y="0"/>
                  </a:moveTo>
                  <a:lnTo>
                    <a:pt x="1049240" y="0"/>
                  </a:lnTo>
                  <a:lnTo>
                    <a:pt x="1049240" y="130478"/>
                  </a:lnTo>
                  <a:lnTo>
                    <a:pt x="0" y="130478"/>
                  </a:lnTo>
                  <a:close/>
                </a:path>
              </a:pathLst>
            </a:custGeom>
            <a:solidFill>
              <a:srgbClr val="86A8C5"/>
            </a:solidFill>
          </p:spPr>
        </p:sp>
        <p:sp>
          <p:nvSpPr>
            <p:cNvPr name="TextBox 31" id="31"/>
            <p:cNvSpPr txBox="true"/>
            <p:nvPr/>
          </p:nvSpPr>
          <p:spPr>
            <a:xfrm>
              <a:off x="0" y="-38100"/>
              <a:ext cx="1049240" cy="168578"/>
            </a:xfrm>
            <a:prstGeom prst="rect">
              <a:avLst/>
            </a:prstGeom>
          </p:spPr>
          <p:txBody>
            <a:bodyPr anchor="ctr" rtlCol="false" tIns="50800" lIns="50800" bIns="50800" rIns="50800"/>
            <a:lstStyle/>
            <a:p>
              <a:pPr algn="ctr">
                <a:lnSpc>
                  <a:spcPts val="2239"/>
                </a:lnSpc>
              </a:pPr>
            </a:p>
          </p:txBody>
        </p:sp>
      </p:grpSp>
      <p:sp>
        <p:nvSpPr>
          <p:cNvPr name="TextBox 32" id="32"/>
          <p:cNvSpPr txBox="true"/>
          <p:nvPr/>
        </p:nvSpPr>
        <p:spPr>
          <a:xfrm rot="0">
            <a:off x="1028700" y="876300"/>
            <a:ext cx="8001000"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Main Objectives</a:t>
            </a:r>
          </a:p>
        </p:txBody>
      </p:sp>
      <p:sp>
        <p:nvSpPr>
          <p:cNvPr name="TextBox 33" id="33"/>
          <p:cNvSpPr txBox="true"/>
          <p:nvPr/>
        </p:nvSpPr>
        <p:spPr>
          <a:xfrm rot="0">
            <a:off x="0" y="9737090"/>
            <a:ext cx="3983833" cy="549910"/>
          </a:xfrm>
          <a:prstGeom prst="rect">
            <a:avLst/>
          </a:prstGeom>
        </p:spPr>
        <p:txBody>
          <a:bodyPr anchor="t" rtlCol="false" tIns="0" lIns="0" bIns="0" rIns="0">
            <a:spAutoFit/>
          </a:bodyPr>
          <a:lstStyle/>
          <a:p>
            <a:pPr algn="just">
              <a:lnSpc>
                <a:spcPts val="2239"/>
              </a:lnSpc>
            </a:pPr>
            <a:r>
              <a:rPr lang="en-US" sz="1599" b="true">
                <a:solidFill>
                  <a:srgbClr val="0B0C0F"/>
                </a:solidFill>
                <a:latin typeface="Cardo Bold"/>
                <a:ea typeface="Cardo Bold"/>
                <a:cs typeface="Cardo Bold"/>
                <a:sym typeface="Cardo Bold"/>
              </a:rPr>
              <a:t>Fig6. People Working with raw Materials</a:t>
            </a:r>
          </a:p>
          <a:p>
            <a:pPr algn="just">
              <a:lnSpc>
                <a:spcPts val="2239"/>
              </a:lnSpc>
            </a:pPr>
            <a:r>
              <a:rPr lang="en-US" sz="1599" b="true">
                <a:solidFill>
                  <a:srgbClr val="0B0C0F"/>
                </a:solidFill>
                <a:latin typeface="Cardo Bold"/>
                <a:ea typeface="Cardo Bold"/>
                <a:cs typeface="Cardo Bold"/>
                <a:sym typeface="Cardo Bold"/>
              </a:rPr>
              <a:t>Source. www.jkgb.in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86A8C5"/>
        </a:solidFill>
      </p:bgPr>
    </p:bg>
    <p:spTree>
      <p:nvGrpSpPr>
        <p:cNvPr id="1" name=""/>
        <p:cNvGrpSpPr/>
        <p:nvPr/>
      </p:nvGrpSpPr>
      <p:grpSpPr>
        <a:xfrm>
          <a:off x="0" y="0"/>
          <a:ext cx="0" cy="0"/>
          <a:chOff x="0" y="0"/>
          <a:chExt cx="0" cy="0"/>
        </a:xfrm>
      </p:grpSpPr>
      <p:grpSp>
        <p:nvGrpSpPr>
          <p:cNvPr name="Group 2" id="2"/>
          <p:cNvGrpSpPr/>
          <p:nvPr/>
        </p:nvGrpSpPr>
        <p:grpSpPr>
          <a:xfrm rot="0">
            <a:off x="-2242803" y="-2136752"/>
            <a:ext cx="23460202" cy="15468363"/>
            <a:chOff x="0" y="0"/>
            <a:chExt cx="31280270" cy="20624484"/>
          </a:xfrm>
        </p:grpSpPr>
        <p:grpSp>
          <p:nvGrpSpPr>
            <p:cNvPr name="Group 3" id="3"/>
            <p:cNvGrpSpPr/>
            <p:nvPr/>
          </p:nvGrpSpPr>
          <p:grpSpPr>
            <a:xfrm rot="-2700000">
              <a:off x="23824152" y="15519818"/>
              <a:ext cx="5467308" cy="882009"/>
              <a:chOff x="0" y="0"/>
              <a:chExt cx="1079962" cy="174224"/>
            </a:xfrm>
          </p:grpSpPr>
          <p:sp>
            <p:nvSpPr>
              <p:cNvPr name="Freeform 4" id="4"/>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5" id="5"/>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6" id="6"/>
            <p:cNvGrpSpPr/>
            <p:nvPr/>
          </p:nvGrpSpPr>
          <p:grpSpPr>
            <a:xfrm rot="2700000">
              <a:off x="25397843" y="852203"/>
              <a:ext cx="4114800" cy="41148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8" id="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9" id="9"/>
            <p:cNvGrpSpPr/>
            <p:nvPr/>
          </p:nvGrpSpPr>
          <p:grpSpPr>
            <a:xfrm rot="2700000">
              <a:off x="26313267" y="1003759"/>
              <a:ext cx="4114800" cy="41148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1" id="11"/>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2" id="12"/>
            <p:cNvGrpSpPr/>
            <p:nvPr/>
          </p:nvGrpSpPr>
          <p:grpSpPr>
            <a:xfrm rot="-2700000">
              <a:off x="852203" y="14568203"/>
              <a:ext cx="4114800" cy="41148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4" id="14"/>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5" id="15"/>
            <p:cNvGrpSpPr/>
            <p:nvPr/>
          </p:nvGrpSpPr>
          <p:grpSpPr>
            <a:xfrm rot="2700000">
              <a:off x="1271456" y="15657481"/>
              <a:ext cx="4114800" cy="41148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7" id="17"/>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8" id="18"/>
            <p:cNvGrpSpPr/>
            <p:nvPr/>
          </p:nvGrpSpPr>
          <p:grpSpPr>
            <a:xfrm rot="-2700000">
              <a:off x="1214185" y="4086783"/>
              <a:ext cx="6134037" cy="882009"/>
              <a:chOff x="0" y="0"/>
              <a:chExt cx="1211662" cy="174224"/>
            </a:xfrm>
          </p:grpSpPr>
          <p:sp>
            <p:nvSpPr>
              <p:cNvPr name="Freeform 19" id="19"/>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0" id="20"/>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1" id="21"/>
            <p:cNvGrpSpPr/>
            <p:nvPr/>
          </p:nvGrpSpPr>
          <p:grpSpPr>
            <a:xfrm rot="-2700000">
              <a:off x="878586" y="3616485"/>
              <a:ext cx="6134037" cy="882009"/>
              <a:chOff x="0" y="0"/>
              <a:chExt cx="1211662" cy="174224"/>
            </a:xfrm>
          </p:grpSpPr>
          <p:sp>
            <p:nvSpPr>
              <p:cNvPr name="Freeform 22" id="22"/>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3" id="23"/>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4" id="24"/>
            <p:cNvGrpSpPr/>
            <p:nvPr/>
          </p:nvGrpSpPr>
          <p:grpSpPr>
            <a:xfrm rot="-2700000">
              <a:off x="542988" y="3146187"/>
              <a:ext cx="6134037" cy="882009"/>
              <a:chOff x="0" y="0"/>
              <a:chExt cx="1211662" cy="174224"/>
            </a:xfrm>
          </p:grpSpPr>
          <p:sp>
            <p:nvSpPr>
              <p:cNvPr name="Freeform 25" id="25"/>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6" id="26"/>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7" id="27"/>
          <p:cNvSpPr txBox="true"/>
          <p:nvPr/>
        </p:nvSpPr>
        <p:spPr>
          <a:xfrm rot="0">
            <a:off x="752347" y="1120878"/>
            <a:ext cx="17469902" cy="1872615"/>
          </a:xfrm>
          <a:prstGeom prst="rect">
            <a:avLst/>
          </a:prstGeom>
        </p:spPr>
        <p:txBody>
          <a:bodyPr anchor="t" rtlCol="false" tIns="0" lIns="0" bIns="0" rIns="0">
            <a:spAutoFit/>
          </a:bodyPr>
          <a:lstStyle/>
          <a:p>
            <a:pPr algn="just">
              <a:lnSpc>
                <a:spcPts val="7559"/>
              </a:lnSpc>
            </a:pPr>
            <a:r>
              <a:rPr lang="en-US" sz="5400" b="true">
                <a:solidFill>
                  <a:srgbClr val="FFFFFF"/>
                </a:solidFill>
                <a:latin typeface="Cardo Bold"/>
                <a:ea typeface="Cardo Bold"/>
                <a:cs typeface="Cardo Bold"/>
                <a:sym typeface="Cardo Bold"/>
              </a:rPr>
              <a:t>Muhammad Yunus &amp; Grameen Bank's Link to SDGs</a:t>
            </a:r>
          </a:p>
          <a:p>
            <a:pPr algn="just">
              <a:lnSpc>
                <a:spcPts val="7559"/>
              </a:lnSpc>
            </a:pPr>
          </a:p>
        </p:txBody>
      </p:sp>
      <p:sp>
        <p:nvSpPr>
          <p:cNvPr name="TextBox 28" id="28"/>
          <p:cNvSpPr txBox="true"/>
          <p:nvPr/>
        </p:nvSpPr>
        <p:spPr>
          <a:xfrm rot="0">
            <a:off x="752347" y="2233494"/>
            <a:ext cx="11669774" cy="7072899"/>
          </a:xfrm>
          <a:prstGeom prst="rect">
            <a:avLst/>
          </a:prstGeom>
        </p:spPr>
        <p:txBody>
          <a:bodyPr anchor="t" rtlCol="false" tIns="0" lIns="0" bIns="0" rIns="0">
            <a:spAutoFit/>
          </a:bodyPr>
          <a:lstStyle/>
          <a:p>
            <a:pPr algn="l" marL="786705" indent="-393352" lvl="1">
              <a:lnSpc>
                <a:spcPts val="7105"/>
              </a:lnSpc>
              <a:buFont typeface="Arial"/>
              <a:buChar char="•"/>
            </a:pPr>
            <a:r>
              <a:rPr lang="en-US" sz="3643" spc="14">
                <a:solidFill>
                  <a:srgbClr val="FFFFFF"/>
                </a:solidFill>
                <a:latin typeface="Cardo"/>
                <a:ea typeface="Cardo"/>
                <a:cs typeface="Cardo"/>
                <a:sym typeface="Cardo"/>
              </a:rPr>
              <a:t>SDG 1: No Poverty</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5: Gender Equality</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8: Decent Work &amp; Economic Growth</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10: Reduced Inequality</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2: Zero Hunger</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17: Partnerships for the Goals</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3: Good Health &amp; Well-Being</a:t>
            </a:r>
          </a:p>
          <a:p>
            <a:pPr algn="l" marL="786705" indent="-393352" lvl="1">
              <a:lnSpc>
                <a:spcPts val="7105"/>
              </a:lnSpc>
              <a:buFont typeface="Arial"/>
              <a:buChar char="•"/>
            </a:pPr>
            <a:r>
              <a:rPr lang="en-US" sz="3643" spc="14">
                <a:solidFill>
                  <a:srgbClr val="FFFFFF"/>
                </a:solidFill>
                <a:latin typeface="Cardo"/>
                <a:ea typeface="Cardo"/>
                <a:cs typeface="Cardo"/>
                <a:sym typeface="Cardo"/>
              </a:rPr>
              <a:t>SDG 9: Industry, Innovation &amp; Infrastructure</a:t>
            </a:r>
          </a:p>
        </p:txBody>
      </p:sp>
      <p:sp>
        <p:nvSpPr>
          <p:cNvPr name="Freeform 29" id="29"/>
          <p:cNvSpPr/>
          <p:nvPr/>
        </p:nvSpPr>
        <p:spPr>
          <a:xfrm flipH="false" flipV="false" rot="0">
            <a:off x="11215742" y="2993493"/>
            <a:ext cx="7006506" cy="5849849"/>
          </a:xfrm>
          <a:custGeom>
            <a:avLst/>
            <a:gdLst/>
            <a:ahLst/>
            <a:cxnLst/>
            <a:rect r="r" b="b" t="t" l="l"/>
            <a:pathLst>
              <a:path h="5849849" w="7006506">
                <a:moveTo>
                  <a:pt x="0" y="0"/>
                </a:moveTo>
                <a:lnTo>
                  <a:pt x="7006507" y="0"/>
                </a:lnTo>
                <a:lnTo>
                  <a:pt x="7006507" y="5849849"/>
                </a:lnTo>
                <a:lnTo>
                  <a:pt x="0" y="5849849"/>
                </a:lnTo>
                <a:lnTo>
                  <a:pt x="0" y="0"/>
                </a:lnTo>
                <a:close/>
              </a:path>
            </a:pathLst>
          </a:custGeom>
          <a:blipFill>
            <a:blip r:embed="rId2"/>
            <a:stretch>
              <a:fillRect l="-11244" t="0" r="-11537" b="0"/>
            </a:stretch>
          </a:blipFill>
        </p:spPr>
      </p:sp>
      <p:sp>
        <p:nvSpPr>
          <p:cNvPr name="TextBox 30" id="30"/>
          <p:cNvSpPr txBox="true"/>
          <p:nvPr/>
        </p:nvSpPr>
        <p:spPr>
          <a:xfrm rot="0">
            <a:off x="11215742" y="8805242"/>
            <a:ext cx="6898867" cy="549910"/>
          </a:xfrm>
          <a:prstGeom prst="rect">
            <a:avLst/>
          </a:prstGeom>
        </p:spPr>
        <p:txBody>
          <a:bodyPr anchor="t" rtlCol="false" tIns="0" lIns="0" bIns="0" rIns="0">
            <a:spAutoFit/>
          </a:bodyPr>
          <a:lstStyle/>
          <a:p>
            <a:pPr algn="l">
              <a:lnSpc>
                <a:spcPts val="2239"/>
              </a:lnSpc>
            </a:pPr>
            <a:r>
              <a:rPr lang="en-US" sz="1599" b="true">
                <a:solidFill>
                  <a:srgbClr val="0B0C0F"/>
                </a:solidFill>
                <a:latin typeface="Cardo Bold"/>
                <a:ea typeface="Cardo Bold"/>
                <a:cs typeface="Cardo Bold"/>
                <a:sym typeface="Cardo Bold"/>
              </a:rPr>
              <a:t>Fig7. Sustainable Development Goals img</a:t>
            </a:r>
          </a:p>
          <a:p>
            <a:pPr algn="l">
              <a:lnSpc>
                <a:spcPts val="2239"/>
              </a:lnSpc>
            </a:pPr>
            <a:r>
              <a:rPr lang="en-US" sz="1599" b="true">
                <a:solidFill>
                  <a:srgbClr val="0B0C0F"/>
                </a:solidFill>
                <a:latin typeface="Cardo Bold"/>
                <a:ea typeface="Cardo Bold"/>
                <a:cs typeface="Cardo Bold"/>
                <a:sym typeface="Cardo Bold"/>
              </a:rPr>
              <a:t>Source. impact-investor.com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182202" y="-2182202"/>
            <a:ext cx="23460202" cy="15468363"/>
            <a:chOff x="0" y="0"/>
            <a:chExt cx="31280270" cy="20624484"/>
          </a:xfrm>
        </p:grpSpPr>
        <p:grpSp>
          <p:nvGrpSpPr>
            <p:cNvPr name="Group 4" id="4"/>
            <p:cNvGrpSpPr/>
            <p:nvPr/>
          </p:nvGrpSpPr>
          <p:grpSpPr>
            <a:xfrm rot="-2700000">
              <a:off x="23824152" y="15519818"/>
              <a:ext cx="5467308" cy="882009"/>
              <a:chOff x="0" y="0"/>
              <a:chExt cx="1079962" cy="174224"/>
            </a:xfrm>
          </p:grpSpPr>
          <p:sp>
            <p:nvSpPr>
              <p:cNvPr name="Freeform 5" id="5"/>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6" id="6"/>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7" id="7"/>
            <p:cNvGrpSpPr/>
            <p:nvPr/>
          </p:nvGrpSpPr>
          <p:grpSpPr>
            <a:xfrm rot="2700000">
              <a:off x="25397843" y="852203"/>
              <a:ext cx="4114800" cy="41148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9" id="9"/>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0" id="10"/>
            <p:cNvGrpSpPr/>
            <p:nvPr/>
          </p:nvGrpSpPr>
          <p:grpSpPr>
            <a:xfrm rot="2700000">
              <a:off x="26313267" y="1003759"/>
              <a:ext cx="4114800" cy="41148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2" id="12"/>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3" id="13"/>
            <p:cNvGrpSpPr/>
            <p:nvPr/>
          </p:nvGrpSpPr>
          <p:grpSpPr>
            <a:xfrm rot="-2700000">
              <a:off x="852203" y="14568203"/>
              <a:ext cx="4114800" cy="41148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5" id="15"/>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6" id="16"/>
            <p:cNvGrpSpPr/>
            <p:nvPr/>
          </p:nvGrpSpPr>
          <p:grpSpPr>
            <a:xfrm rot="2700000">
              <a:off x="1271456" y="15657481"/>
              <a:ext cx="4114800" cy="41148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8" id="1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9" id="19"/>
            <p:cNvGrpSpPr/>
            <p:nvPr/>
          </p:nvGrpSpPr>
          <p:grpSpPr>
            <a:xfrm rot="-2700000">
              <a:off x="1214185" y="4086783"/>
              <a:ext cx="6134037" cy="882009"/>
              <a:chOff x="0" y="0"/>
              <a:chExt cx="1211662" cy="174224"/>
            </a:xfrm>
          </p:grpSpPr>
          <p:sp>
            <p:nvSpPr>
              <p:cNvPr name="Freeform 20" id="2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1" id="21"/>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2" id="22"/>
            <p:cNvGrpSpPr/>
            <p:nvPr/>
          </p:nvGrpSpPr>
          <p:grpSpPr>
            <a:xfrm rot="-2700000">
              <a:off x="878586" y="3616485"/>
              <a:ext cx="6134037" cy="882009"/>
              <a:chOff x="0" y="0"/>
              <a:chExt cx="1211662" cy="174224"/>
            </a:xfrm>
          </p:grpSpPr>
          <p:sp>
            <p:nvSpPr>
              <p:cNvPr name="Freeform 23" id="23"/>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4" id="24"/>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5" id="25"/>
            <p:cNvGrpSpPr/>
            <p:nvPr/>
          </p:nvGrpSpPr>
          <p:grpSpPr>
            <a:xfrm rot="-2700000">
              <a:off x="542988" y="3146187"/>
              <a:ext cx="6134037" cy="882009"/>
              <a:chOff x="0" y="0"/>
              <a:chExt cx="1211662" cy="174224"/>
            </a:xfrm>
          </p:grpSpPr>
          <p:sp>
            <p:nvSpPr>
              <p:cNvPr name="Freeform 26" id="26"/>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7" id="27"/>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8" id="28"/>
          <p:cNvSpPr txBox="true"/>
          <p:nvPr/>
        </p:nvSpPr>
        <p:spPr>
          <a:xfrm rot="0">
            <a:off x="805950" y="2105025"/>
            <a:ext cx="12388058" cy="5524500"/>
          </a:xfrm>
          <a:prstGeom prst="rect">
            <a:avLst/>
          </a:prstGeom>
        </p:spPr>
        <p:txBody>
          <a:bodyPr anchor="t" rtlCol="false" tIns="0" lIns="0" bIns="0" rIns="0">
            <a:spAutoFit/>
          </a:bodyPr>
          <a:lstStyle/>
          <a:p>
            <a:pPr algn="l" marL="971550" indent="-485775" lvl="1">
              <a:lnSpc>
                <a:spcPts val="11250"/>
              </a:lnSpc>
              <a:buFont typeface="Arial"/>
              <a:buChar char="•"/>
            </a:pPr>
            <a:r>
              <a:rPr lang="en-US" sz="4500">
                <a:solidFill>
                  <a:srgbClr val="FFFFFF"/>
                </a:solidFill>
                <a:latin typeface="Cardo"/>
                <a:ea typeface="Cardo"/>
                <a:cs typeface="Cardo"/>
                <a:sym typeface="Cardo"/>
              </a:rPr>
              <a:t>Nobel Peace Award (2006)</a:t>
            </a:r>
          </a:p>
          <a:p>
            <a:pPr algn="l" marL="971550" indent="-485775" lvl="1">
              <a:lnSpc>
                <a:spcPts val="11250"/>
              </a:lnSpc>
              <a:buFont typeface="Arial"/>
              <a:buChar char="•"/>
            </a:pPr>
            <a:r>
              <a:rPr lang="en-US" sz="4500">
                <a:solidFill>
                  <a:srgbClr val="FFFFFF"/>
                </a:solidFill>
                <a:latin typeface="Cardo"/>
                <a:ea typeface="Cardo"/>
                <a:cs typeface="Cardo"/>
                <a:sym typeface="Cardo"/>
              </a:rPr>
              <a:t>Presidential Medal of Freedom (2009)</a:t>
            </a:r>
          </a:p>
          <a:p>
            <a:pPr algn="l" marL="971550" indent="-485775" lvl="1">
              <a:lnSpc>
                <a:spcPts val="11250"/>
              </a:lnSpc>
              <a:buFont typeface="Arial"/>
              <a:buChar char="•"/>
            </a:pPr>
            <a:r>
              <a:rPr lang="en-US" sz="4500">
                <a:solidFill>
                  <a:srgbClr val="FFFFFF"/>
                </a:solidFill>
                <a:latin typeface="Cardo"/>
                <a:ea typeface="Cardo"/>
                <a:cs typeface="Cardo"/>
                <a:sym typeface="Cardo"/>
              </a:rPr>
              <a:t>Congressional Gold Medal (2010)</a:t>
            </a:r>
          </a:p>
          <a:p>
            <a:pPr algn="l" marL="971550" indent="-485775" lvl="1">
              <a:lnSpc>
                <a:spcPts val="11250"/>
              </a:lnSpc>
              <a:buFont typeface="Arial"/>
              <a:buChar char="•"/>
            </a:pPr>
            <a:r>
              <a:rPr lang="en-US" sz="4500">
                <a:solidFill>
                  <a:srgbClr val="FFFFFF"/>
                </a:solidFill>
                <a:latin typeface="Cardo"/>
                <a:ea typeface="Cardo"/>
                <a:cs typeface="Cardo"/>
                <a:sym typeface="Cardo"/>
              </a:rPr>
              <a:t>World Most Influential Person (2010)</a:t>
            </a:r>
          </a:p>
        </p:txBody>
      </p:sp>
      <p:sp>
        <p:nvSpPr>
          <p:cNvPr name="TextBox 29" id="29"/>
          <p:cNvSpPr txBox="true"/>
          <p:nvPr/>
        </p:nvSpPr>
        <p:spPr>
          <a:xfrm rot="0">
            <a:off x="1028700" y="876300"/>
            <a:ext cx="16587017"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Global Recognition of His Work</a:t>
            </a:r>
          </a:p>
        </p:txBody>
      </p:sp>
      <p:sp>
        <p:nvSpPr>
          <p:cNvPr name="TextBox 30" id="30"/>
          <p:cNvSpPr txBox="true"/>
          <p:nvPr/>
        </p:nvSpPr>
        <p:spPr>
          <a:xfrm rot="0">
            <a:off x="14166283" y="9602488"/>
            <a:ext cx="6898867" cy="549910"/>
          </a:xfrm>
          <a:prstGeom prst="rect">
            <a:avLst/>
          </a:prstGeom>
        </p:spPr>
        <p:txBody>
          <a:bodyPr anchor="t" rtlCol="false" tIns="0" lIns="0" bIns="0" rIns="0">
            <a:spAutoFit/>
          </a:bodyPr>
          <a:lstStyle/>
          <a:p>
            <a:pPr algn="l">
              <a:lnSpc>
                <a:spcPts val="2239"/>
              </a:lnSpc>
            </a:pPr>
            <a:r>
              <a:rPr lang="en-US" sz="1599" b="true">
                <a:solidFill>
                  <a:srgbClr val="FFFFFF"/>
                </a:solidFill>
                <a:latin typeface="Cardo Bold"/>
                <a:ea typeface="Cardo Bold"/>
                <a:cs typeface="Cardo Bold"/>
                <a:sym typeface="Cardo Bold"/>
              </a:rPr>
              <a:t>Fig8. Yunus at the Nobel award ceremony</a:t>
            </a:r>
          </a:p>
          <a:p>
            <a:pPr algn="l">
              <a:lnSpc>
                <a:spcPts val="2239"/>
              </a:lnSpc>
            </a:pPr>
            <a:r>
              <a:rPr lang="en-US" sz="1599" b="true">
                <a:solidFill>
                  <a:srgbClr val="FFFFFF"/>
                </a:solidFill>
                <a:latin typeface="Cardo Bold"/>
                <a:ea typeface="Cardo Bold"/>
                <a:cs typeface="Cardo Bold"/>
                <a:sym typeface="Cardo Bold"/>
              </a:rPr>
              <a:t>Source. olympics.com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86A8C5"/>
        </a:solidFill>
      </p:bgPr>
    </p:bg>
    <p:spTree>
      <p:nvGrpSpPr>
        <p:cNvPr id="1" name=""/>
        <p:cNvGrpSpPr/>
        <p:nvPr/>
      </p:nvGrpSpPr>
      <p:grpSpPr>
        <a:xfrm>
          <a:off x="0" y="0"/>
          <a:ext cx="0" cy="0"/>
          <a:chOff x="0" y="0"/>
          <a:chExt cx="0" cy="0"/>
        </a:xfrm>
      </p:grpSpPr>
      <p:grpSp>
        <p:nvGrpSpPr>
          <p:cNvPr name="Group 2" id="2"/>
          <p:cNvGrpSpPr/>
          <p:nvPr/>
        </p:nvGrpSpPr>
        <p:grpSpPr>
          <a:xfrm rot="0">
            <a:off x="-2182202" y="-2182202"/>
            <a:ext cx="23460202" cy="15468363"/>
            <a:chOff x="0" y="0"/>
            <a:chExt cx="31280270" cy="20624484"/>
          </a:xfrm>
        </p:grpSpPr>
        <p:grpSp>
          <p:nvGrpSpPr>
            <p:cNvPr name="Group 3" id="3"/>
            <p:cNvGrpSpPr/>
            <p:nvPr/>
          </p:nvGrpSpPr>
          <p:grpSpPr>
            <a:xfrm rot="-2700000">
              <a:off x="23824152" y="15519818"/>
              <a:ext cx="5467308" cy="882009"/>
              <a:chOff x="0" y="0"/>
              <a:chExt cx="1079962" cy="174224"/>
            </a:xfrm>
          </p:grpSpPr>
          <p:sp>
            <p:nvSpPr>
              <p:cNvPr name="Freeform 4" id="4"/>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5" id="5"/>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6" id="6"/>
            <p:cNvGrpSpPr/>
            <p:nvPr/>
          </p:nvGrpSpPr>
          <p:grpSpPr>
            <a:xfrm rot="2700000">
              <a:off x="25397843" y="852203"/>
              <a:ext cx="4114800" cy="41148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8" id="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9" id="9"/>
            <p:cNvGrpSpPr/>
            <p:nvPr/>
          </p:nvGrpSpPr>
          <p:grpSpPr>
            <a:xfrm rot="2700000">
              <a:off x="26313267" y="1003759"/>
              <a:ext cx="4114800" cy="41148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1" id="11"/>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2" id="12"/>
            <p:cNvGrpSpPr/>
            <p:nvPr/>
          </p:nvGrpSpPr>
          <p:grpSpPr>
            <a:xfrm rot="-2700000">
              <a:off x="852203" y="14568203"/>
              <a:ext cx="4114800" cy="41148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4" id="14"/>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5" id="15"/>
            <p:cNvGrpSpPr/>
            <p:nvPr/>
          </p:nvGrpSpPr>
          <p:grpSpPr>
            <a:xfrm rot="2700000">
              <a:off x="1271456" y="15657481"/>
              <a:ext cx="4114800" cy="41148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7" id="17"/>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8" id="18"/>
            <p:cNvGrpSpPr/>
            <p:nvPr/>
          </p:nvGrpSpPr>
          <p:grpSpPr>
            <a:xfrm rot="-2700000">
              <a:off x="1214185" y="4086783"/>
              <a:ext cx="6134037" cy="882009"/>
              <a:chOff x="0" y="0"/>
              <a:chExt cx="1211662" cy="174224"/>
            </a:xfrm>
          </p:grpSpPr>
          <p:sp>
            <p:nvSpPr>
              <p:cNvPr name="Freeform 19" id="19"/>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0" id="20"/>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1" id="21"/>
            <p:cNvGrpSpPr/>
            <p:nvPr/>
          </p:nvGrpSpPr>
          <p:grpSpPr>
            <a:xfrm rot="-2700000">
              <a:off x="878586" y="3616485"/>
              <a:ext cx="6134037" cy="882009"/>
              <a:chOff x="0" y="0"/>
              <a:chExt cx="1211662" cy="174224"/>
            </a:xfrm>
          </p:grpSpPr>
          <p:sp>
            <p:nvSpPr>
              <p:cNvPr name="Freeform 22" id="22"/>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3" id="23"/>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4" id="24"/>
            <p:cNvGrpSpPr/>
            <p:nvPr/>
          </p:nvGrpSpPr>
          <p:grpSpPr>
            <a:xfrm rot="-2700000">
              <a:off x="542988" y="3146187"/>
              <a:ext cx="6134037" cy="882009"/>
              <a:chOff x="0" y="0"/>
              <a:chExt cx="1211662" cy="174224"/>
            </a:xfrm>
          </p:grpSpPr>
          <p:sp>
            <p:nvSpPr>
              <p:cNvPr name="Freeform 25" id="25"/>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6" id="26"/>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Freeform 27" id="27"/>
          <p:cNvSpPr/>
          <p:nvPr/>
        </p:nvSpPr>
        <p:spPr>
          <a:xfrm flipH="false" flipV="false" rot="0">
            <a:off x="8486615" y="2072684"/>
            <a:ext cx="9801385" cy="5947902"/>
          </a:xfrm>
          <a:custGeom>
            <a:avLst/>
            <a:gdLst/>
            <a:ahLst/>
            <a:cxnLst/>
            <a:rect r="r" b="b" t="t" l="l"/>
            <a:pathLst>
              <a:path h="5947902" w="9801385">
                <a:moveTo>
                  <a:pt x="0" y="0"/>
                </a:moveTo>
                <a:lnTo>
                  <a:pt x="9801385" y="0"/>
                </a:lnTo>
                <a:lnTo>
                  <a:pt x="9801385" y="5947901"/>
                </a:lnTo>
                <a:lnTo>
                  <a:pt x="0" y="5947901"/>
                </a:lnTo>
                <a:lnTo>
                  <a:pt x="0" y="0"/>
                </a:lnTo>
                <a:close/>
              </a:path>
            </a:pathLst>
          </a:custGeom>
          <a:blipFill>
            <a:blip r:embed="rId2"/>
            <a:stretch>
              <a:fillRect l="-2164" t="0" r="-13138" b="-6877"/>
            </a:stretch>
          </a:blipFill>
        </p:spPr>
      </p:sp>
      <p:sp>
        <p:nvSpPr>
          <p:cNvPr name="TextBox 28" id="28"/>
          <p:cNvSpPr txBox="true"/>
          <p:nvPr/>
        </p:nvSpPr>
        <p:spPr>
          <a:xfrm rot="0">
            <a:off x="1028700" y="876300"/>
            <a:ext cx="8001000"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Impact </a:t>
            </a:r>
          </a:p>
        </p:txBody>
      </p:sp>
      <p:sp>
        <p:nvSpPr>
          <p:cNvPr name="TextBox 29" id="29"/>
          <p:cNvSpPr txBox="true"/>
          <p:nvPr/>
        </p:nvSpPr>
        <p:spPr>
          <a:xfrm rot="0">
            <a:off x="1028700" y="1799129"/>
            <a:ext cx="8115300" cy="6953250"/>
          </a:xfrm>
          <a:prstGeom prst="rect">
            <a:avLst/>
          </a:prstGeom>
        </p:spPr>
        <p:txBody>
          <a:bodyPr anchor="t" rtlCol="false" tIns="0" lIns="0" bIns="0" rIns="0">
            <a:spAutoFit/>
          </a:bodyPr>
          <a:lstStyle/>
          <a:p>
            <a:pPr algn="l" marL="971550" indent="-485775" lvl="1">
              <a:lnSpc>
                <a:spcPts val="11250"/>
              </a:lnSpc>
              <a:buFont typeface="Arial"/>
              <a:buChar char="•"/>
            </a:pPr>
            <a:r>
              <a:rPr lang="en-US" sz="4500">
                <a:solidFill>
                  <a:srgbClr val="FFFFFF"/>
                </a:solidFill>
                <a:latin typeface="Cardo"/>
                <a:ea typeface="Cardo"/>
                <a:cs typeface="Cardo"/>
                <a:sym typeface="Cardo"/>
              </a:rPr>
              <a:t>Women’s Empowerment</a:t>
            </a:r>
          </a:p>
          <a:p>
            <a:pPr algn="l" marL="971550" indent="-485775" lvl="1">
              <a:lnSpc>
                <a:spcPts val="11250"/>
              </a:lnSpc>
              <a:buFont typeface="Arial"/>
              <a:buChar char="•"/>
            </a:pPr>
            <a:r>
              <a:rPr lang="en-US" sz="4500">
                <a:solidFill>
                  <a:srgbClr val="FFFFFF"/>
                </a:solidFill>
                <a:latin typeface="Cardo"/>
                <a:ea typeface="Cardo"/>
                <a:cs typeface="Cardo"/>
                <a:sym typeface="Cardo"/>
              </a:rPr>
              <a:t>Poverty Reduction</a:t>
            </a:r>
          </a:p>
          <a:p>
            <a:pPr algn="l" marL="971550" indent="-485775" lvl="1">
              <a:lnSpc>
                <a:spcPts val="11250"/>
              </a:lnSpc>
              <a:buFont typeface="Arial"/>
              <a:buChar char="•"/>
            </a:pPr>
            <a:r>
              <a:rPr lang="en-US" sz="4500">
                <a:solidFill>
                  <a:srgbClr val="FFFFFF"/>
                </a:solidFill>
                <a:latin typeface="Cardo"/>
                <a:ea typeface="Cardo"/>
                <a:cs typeface="Cardo"/>
                <a:sym typeface="Cardo"/>
              </a:rPr>
              <a:t>Financial Inclusion</a:t>
            </a:r>
          </a:p>
          <a:p>
            <a:pPr algn="l" marL="971550" indent="-485775" lvl="1">
              <a:lnSpc>
                <a:spcPts val="11250"/>
              </a:lnSpc>
              <a:buFont typeface="Arial"/>
              <a:buChar char="•"/>
            </a:pPr>
            <a:r>
              <a:rPr lang="en-US" sz="4500">
                <a:solidFill>
                  <a:srgbClr val="FFFFFF"/>
                </a:solidFill>
                <a:latin typeface="Cardo"/>
                <a:ea typeface="Cardo"/>
                <a:cs typeface="Cardo"/>
                <a:sym typeface="Cardo"/>
              </a:rPr>
              <a:t>Replication</a:t>
            </a:r>
          </a:p>
          <a:p>
            <a:pPr algn="l" marL="971550" indent="-485775" lvl="1">
              <a:lnSpc>
                <a:spcPts val="11250"/>
              </a:lnSpc>
              <a:buFont typeface="Arial"/>
              <a:buChar char="•"/>
            </a:pPr>
            <a:r>
              <a:rPr lang="en-US" sz="4500">
                <a:solidFill>
                  <a:srgbClr val="FFFFFF"/>
                </a:solidFill>
                <a:latin typeface="Cardo"/>
                <a:ea typeface="Cardo"/>
                <a:cs typeface="Cardo"/>
                <a:sym typeface="Cardo"/>
              </a:rPr>
              <a:t>Challenges</a:t>
            </a:r>
          </a:p>
        </p:txBody>
      </p:sp>
      <p:sp>
        <p:nvSpPr>
          <p:cNvPr name="TextBox 30" id="30"/>
          <p:cNvSpPr txBox="true"/>
          <p:nvPr/>
        </p:nvSpPr>
        <p:spPr>
          <a:xfrm rot="0">
            <a:off x="8486615" y="7982485"/>
            <a:ext cx="6898867" cy="549910"/>
          </a:xfrm>
          <a:prstGeom prst="rect">
            <a:avLst/>
          </a:prstGeom>
        </p:spPr>
        <p:txBody>
          <a:bodyPr anchor="t" rtlCol="false" tIns="0" lIns="0" bIns="0" rIns="0">
            <a:spAutoFit/>
          </a:bodyPr>
          <a:lstStyle/>
          <a:p>
            <a:pPr algn="l">
              <a:lnSpc>
                <a:spcPts val="2239"/>
              </a:lnSpc>
            </a:pPr>
            <a:r>
              <a:rPr lang="en-US" sz="1599" b="true">
                <a:solidFill>
                  <a:srgbClr val="0B0C0F"/>
                </a:solidFill>
                <a:latin typeface="Cardo Bold"/>
                <a:ea typeface="Cardo Bold"/>
                <a:cs typeface="Cardo Bold"/>
                <a:sym typeface="Cardo Bold"/>
              </a:rPr>
              <a:t>Fig9. Empowering Women’s Economics</a:t>
            </a:r>
          </a:p>
          <a:p>
            <a:pPr algn="l">
              <a:lnSpc>
                <a:spcPts val="2239"/>
              </a:lnSpc>
            </a:pPr>
            <a:r>
              <a:rPr lang="en-US" sz="1599" b="true">
                <a:solidFill>
                  <a:srgbClr val="0B0C0F"/>
                </a:solidFill>
                <a:latin typeface="Cardo Bold"/>
                <a:ea typeface="Cardo Bold"/>
                <a:cs typeface="Cardo Bold"/>
                <a:sym typeface="Cardo Bold"/>
              </a:rPr>
              <a:t>Source. rmaward.asia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86A8C5"/>
        </a:solidFill>
      </p:bgPr>
    </p:bg>
    <p:spTree>
      <p:nvGrpSpPr>
        <p:cNvPr id="1" name=""/>
        <p:cNvGrpSpPr/>
        <p:nvPr/>
      </p:nvGrpSpPr>
      <p:grpSpPr>
        <a:xfrm>
          <a:off x="0" y="0"/>
          <a:ext cx="0" cy="0"/>
          <a:chOff x="0" y="0"/>
          <a:chExt cx="0" cy="0"/>
        </a:xfrm>
      </p:grpSpPr>
      <p:grpSp>
        <p:nvGrpSpPr>
          <p:cNvPr name="Group 2" id="2"/>
          <p:cNvGrpSpPr/>
          <p:nvPr/>
        </p:nvGrpSpPr>
        <p:grpSpPr>
          <a:xfrm rot="0">
            <a:off x="-2182202" y="-2182202"/>
            <a:ext cx="23460202" cy="15468363"/>
            <a:chOff x="0" y="0"/>
            <a:chExt cx="31280270" cy="20624484"/>
          </a:xfrm>
        </p:grpSpPr>
        <p:grpSp>
          <p:nvGrpSpPr>
            <p:cNvPr name="Group 3" id="3"/>
            <p:cNvGrpSpPr/>
            <p:nvPr/>
          </p:nvGrpSpPr>
          <p:grpSpPr>
            <a:xfrm rot="-2700000">
              <a:off x="23824152" y="15519818"/>
              <a:ext cx="5467308" cy="882009"/>
              <a:chOff x="0" y="0"/>
              <a:chExt cx="1079962" cy="174224"/>
            </a:xfrm>
          </p:grpSpPr>
          <p:sp>
            <p:nvSpPr>
              <p:cNvPr name="Freeform 4" id="4"/>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5" id="5"/>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6" id="6"/>
            <p:cNvGrpSpPr/>
            <p:nvPr/>
          </p:nvGrpSpPr>
          <p:grpSpPr>
            <a:xfrm rot="2700000">
              <a:off x="25397843" y="852203"/>
              <a:ext cx="4114800" cy="41148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8" id="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9" id="9"/>
            <p:cNvGrpSpPr/>
            <p:nvPr/>
          </p:nvGrpSpPr>
          <p:grpSpPr>
            <a:xfrm rot="2700000">
              <a:off x="26313267" y="1003759"/>
              <a:ext cx="4114800" cy="41148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1" id="11"/>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2" id="12"/>
            <p:cNvGrpSpPr/>
            <p:nvPr/>
          </p:nvGrpSpPr>
          <p:grpSpPr>
            <a:xfrm rot="-2700000">
              <a:off x="852203" y="14568203"/>
              <a:ext cx="4114800" cy="41148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4" id="14"/>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5" id="15"/>
            <p:cNvGrpSpPr/>
            <p:nvPr/>
          </p:nvGrpSpPr>
          <p:grpSpPr>
            <a:xfrm rot="2700000">
              <a:off x="1271456" y="15657481"/>
              <a:ext cx="4114800" cy="41148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7" id="17"/>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8" id="18"/>
            <p:cNvGrpSpPr/>
            <p:nvPr/>
          </p:nvGrpSpPr>
          <p:grpSpPr>
            <a:xfrm rot="-2700000">
              <a:off x="1214185" y="4086783"/>
              <a:ext cx="6134037" cy="882009"/>
              <a:chOff x="0" y="0"/>
              <a:chExt cx="1211662" cy="174224"/>
            </a:xfrm>
          </p:grpSpPr>
          <p:sp>
            <p:nvSpPr>
              <p:cNvPr name="Freeform 19" id="19"/>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0" id="20"/>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1" id="21"/>
            <p:cNvGrpSpPr/>
            <p:nvPr/>
          </p:nvGrpSpPr>
          <p:grpSpPr>
            <a:xfrm rot="-2700000">
              <a:off x="878586" y="3616485"/>
              <a:ext cx="6134037" cy="882009"/>
              <a:chOff x="0" y="0"/>
              <a:chExt cx="1211662" cy="174224"/>
            </a:xfrm>
          </p:grpSpPr>
          <p:sp>
            <p:nvSpPr>
              <p:cNvPr name="Freeform 22" id="22"/>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3" id="23"/>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4" id="24"/>
            <p:cNvGrpSpPr/>
            <p:nvPr/>
          </p:nvGrpSpPr>
          <p:grpSpPr>
            <a:xfrm rot="-2700000">
              <a:off x="542988" y="3146187"/>
              <a:ext cx="6134037" cy="882009"/>
              <a:chOff x="0" y="0"/>
              <a:chExt cx="1211662" cy="174224"/>
            </a:xfrm>
          </p:grpSpPr>
          <p:sp>
            <p:nvSpPr>
              <p:cNvPr name="Freeform 25" id="25"/>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6" id="26"/>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7" id="27"/>
          <p:cNvSpPr txBox="true"/>
          <p:nvPr/>
        </p:nvSpPr>
        <p:spPr>
          <a:xfrm rot="0">
            <a:off x="1028700" y="1828761"/>
            <a:ext cx="10674181" cy="6760636"/>
          </a:xfrm>
          <a:prstGeom prst="rect">
            <a:avLst/>
          </a:prstGeom>
        </p:spPr>
        <p:txBody>
          <a:bodyPr anchor="t" rtlCol="false" tIns="0" lIns="0" bIns="0" rIns="0">
            <a:spAutoFit/>
          </a:bodyPr>
          <a:lstStyle/>
          <a:p>
            <a:pPr algn="l" marL="1187037" indent="-593518" lvl="1">
              <a:lnSpc>
                <a:spcPts val="13745"/>
              </a:lnSpc>
              <a:buFont typeface="Arial"/>
              <a:buChar char="•"/>
            </a:pPr>
            <a:r>
              <a:rPr lang="en-US" sz="5498">
                <a:solidFill>
                  <a:srgbClr val="FFFFFF"/>
                </a:solidFill>
                <a:latin typeface="Cardo"/>
                <a:ea typeface="Cardo"/>
                <a:cs typeface="Cardo"/>
                <a:sym typeface="Cardo"/>
              </a:rPr>
              <a:t>Sustainability of Microfinance</a:t>
            </a:r>
          </a:p>
          <a:p>
            <a:pPr algn="l" marL="1187037" indent="-593518" lvl="1">
              <a:lnSpc>
                <a:spcPts val="13745"/>
              </a:lnSpc>
              <a:buFont typeface="Arial"/>
              <a:buChar char="•"/>
            </a:pPr>
            <a:r>
              <a:rPr lang="en-US" sz="5498">
                <a:solidFill>
                  <a:srgbClr val="FFFFFF"/>
                </a:solidFill>
                <a:latin typeface="Cardo"/>
                <a:ea typeface="Cardo"/>
                <a:cs typeface="Cardo"/>
                <a:sym typeface="Cardo"/>
              </a:rPr>
              <a:t>High Interest rates</a:t>
            </a:r>
          </a:p>
          <a:p>
            <a:pPr algn="l" marL="1187037" indent="-593518" lvl="1">
              <a:lnSpc>
                <a:spcPts val="13745"/>
              </a:lnSpc>
              <a:buFont typeface="Arial"/>
              <a:buChar char="•"/>
            </a:pPr>
            <a:r>
              <a:rPr lang="en-US" sz="5498">
                <a:solidFill>
                  <a:srgbClr val="FFFFFF"/>
                </a:solidFill>
                <a:latin typeface="Cardo"/>
                <a:ea typeface="Cardo"/>
                <a:cs typeface="Cardo"/>
                <a:sym typeface="Cardo"/>
              </a:rPr>
              <a:t>Debt Cycles</a:t>
            </a:r>
          </a:p>
          <a:p>
            <a:pPr algn="l" marL="1187037" indent="-593518" lvl="1">
              <a:lnSpc>
                <a:spcPts val="13745"/>
              </a:lnSpc>
              <a:buFont typeface="Arial"/>
              <a:buChar char="•"/>
            </a:pPr>
            <a:r>
              <a:rPr lang="en-US" sz="5498">
                <a:solidFill>
                  <a:srgbClr val="FFFFFF"/>
                </a:solidFill>
                <a:latin typeface="Cardo"/>
                <a:ea typeface="Cardo"/>
                <a:cs typeface="Cardo"/>
                <a:sym typeface="Cardo"/>
              </a:rPr>
              <a:t>Profit versus Purpose</a:t>
            </a:r>
          </a:p>
        </p:txBody>
      </p:sp>
      <p:sp>
        <p:nvSpPr>
          <p:cNvPr name="Freeform 28" id="28"/>
          <p:cNvSpPr/>
          <p:nvPr/>
        </p:nvSpPr>
        <p:spPr>
          <a:xfrm flipH="false" flipV="false" rot="0">
            <a:off x="11256408" y="2014603"/>
            <a:ext cx="7031592" cy="6795019"/>
          </a:xfrm>
          <a:custGeom>
            <a:avLst/>
            <a:gdLst/>
            <a:ahLst/>
            <a:cxnLst/>
            <a:rect r="r" b="b" t="t" l="l"/>
            <a:pathLst>
              <a:path h="6795019" w="7031592">
                <a:moveTo>
                  <a:pt x="0" y="0"/>
                </a:moveTo>
                <a:lnTo>
                  <a:pt x="7031592" y="0"/>
                </a:lnTo>
                <a:lnTo>
                  <a:pt x="7031592" y="6795019"/>
                </a:lnTo>
                <a:lnTo>
                  <a:pt x="0" y="6795019"/>
                </a:lnTo>
                <a:lnTo>
                  <a:pt x="0" y="0"/>
                </a:lnTo>
                <a:close/>
              </a:path>
            </a:pathLst>
          </a:custGeom>
          <a:blipFill>
            <a:blip r:embed="rId2"/>
            <a:stretch>
              <a:fillRect l="-23197" t="0" r="-21846" b="0"/>
            </a:stretch>
          </a:blipFill>
        </p:spPr>
      </p:sp>
      <p:sp>
        <p:nvSpPr>
          <p:cNvPr name="TextBox 29" id="29"/>
          <p:cNvSpPr txBox="true"/>
          <p:nvPr/>
        </p:nvSpPr>
        <p:spPr>
          <a:xfrm rot="0">
            <a:off x="1028700" y="573295"/>
            <a:ext cx="11909763"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Criticism and Challenges</a:t>
            </a:r>
          </a:p>
        </p:txBody>
      </p:sp>
      <p:sp>
        <p:nvSpPr>
          <p:cNvPr name="TextBox 30" id="30"/>
          <p:cNvSpPr txBox="true"/>
          <p:nvPr/>
        </p:nvSpPr>
        <p:spPr>
          <a:xfrm rot="0">
            <a:off x="11256408" y="8771522"/>
            <a:ext cx="6898867" cy="549910"/>
          </a:xfrm>
          <a:prstGeom prst="rect">
            <a:avLst/>
          </a:prstGeom>
        </p:spPr>
        <p:txBody>
          <a:bodyPr anchor="t" rtlCol="false" tIns="0" lIns="0" bIns="0" rIns="0">
            <a:spAutoFit/>
          </a:bodyPr>
          <a:lstStyle/>
          <a:p>
            <a:pPr algn="l">
              <a:lnSpc>
                <a:spcPts val="2239"/>
              </a:lnSpc>
            </a:pPr>
            <a:r>
              <a:rPr lang="en-US" sz="1599" b="true">
                <a:solidFill>
                  <a:srgbClr val="0B0C0F"/>
                </a:solidFill>
                <a:latin typeface="Cardo Bold"/>
                <a:ea typeface="Cardo Bold"/>
                <a:cs typeface="Cardo Bold"/>
                <a:sym typeface="Cardo Bold"/>
              </a:rPr>
              <a:t>Fig10. Muhammad Yunus</a:t>
            </a:r>
          </a:p>
          <a:p>
            <a:pPr algn="l">
              <a:lnSpc>
                <a:spcPts val="2239"/>
              </a:lnSpc>
            </a:pPr>
            <a:r>
              <a:rPr lang="en-US" sz="1599" b="true">
                <a:solidFill>
                  <a:srgbClr val="0B0C0F"/>
                </a:solidFill>
                <a:latin typeface="Cardo Bold"/>
                <a:ea typeface="Cardo Bold"/>
                <a:cs typeface="Cardo Bold"/>
                <a:sym typeface="Cardo Bold"/>
              </a:rPr>
              <a:t>Source. www.nbcnews.com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2182202" y="-2182202"/>
            <a:ext cx="23460202" cy="15468363"/>
            <a:chOff x="0" y="0"/>
            <a:chExt cx="31280270" cy="20624484"/>
          </a:xfrm>
        </p:grpSpPr>
        <p:grpSp>
          <p:nvGrpSpPr>
            <p:cNvPr name="Group 4" id="4"/>
            <p:cNvGrpSpPr/>
            <p:nvPr/>
          </p:nvGrpSpPr>
          <p:grpSpPr>
            <a:xfrm rot="-2700000">
              <a:off x="23824152" y="15519818"/>
              <a:ext cx="5467308" cy="882009"/>
              <a:chOff x="0" y="0"/>
              <a:chExt cx="1079962" cy="174224"/>
            </a:xfrm>
          </p:grpSpPr>
          <p:sp>
            <p:nvSpPr>
              <p:cNvPr name="Freeform 5" id="5"/>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6" id="6"/>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7" id="7"/>
            <p:cNvGrpSpPr/>
            <p:nvPr/>
          </p:nvGrpSpPr>
          <p:grpSpPr>
            <a:xfrm rot="2700000">
              <a:off x="25397843" y="852203"/>
              <a:ext cx="4114800" cy="41148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9" id="9"/>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0" id="10"/>
            <p:cNvGrpSpPr/>
            <p:nvPr/>
          </p:nvGrpSpPr>
          <p:grpSpPr>
            <a:xfrm rot="2700000">
              <a:off x="26313267" y="1003759"/>
              <a:ext cx="4114800" cy="41148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2" id="12"/>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3" id="13"/>
            <p:cNvGrpSpPr/>
            <p:nvPr/>
          </p:nvGrpSpPr>
          <p:grpSpPr>
            <a:xfrm rot="-2700000">
              <a:off x="852203" y="14568203"/>
              <a:ext cx="4114800" cy="41148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5" id="15"/>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6" id="16"/>
            <p:cNvGrpSpPr/>
            <p:nvPr/>
          </p:nvGrpSpPr>
          <p:grpSpPr>
            <a:xfrm rot="2700000">
              <a:off x="1271456" y="15657481"/>
              <a:ext cx="4114800" cy="41148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8" id="1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9" id="19"/>
            <p:cNvGrpSpPr/>
            <p:nvPr/>
          </p:nvGrpSpPr>
          <p:grpSpPr>
            <a:xfrm rot="-2700000">
              <a:off x="1214185" y="4086783"/>
              <a:ext cx="6134037" cy="882009"/>
              <a:chOff x="0" y="0"/>
              <a:chExt cx="1211662" cy="174224"/>
            </a:xfrm>
          </p:grpSpPr>
          <p:sp>
            <p:nvSpPr>
              <p:cNvPr name="Freeform 20" id="2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alpha val="9804"/>
                </a:srgbClr>
              </a:solidFill>
            </p:spPr>
          </p:sp>
          <p:sp>
            <p:nvSpPr>
              <p:cNvPr name="TextBox 21" id="21"/>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2" id="22"/>
            <p:cNvGrpSpPr/>
            <p:nvPr/>
          </p:nvGrpSpPr>
          <p:grpSpPr>
            <a:xfrm rot="-2700000">
              <a:off x="878586" y="3616485"/>
              <a:ext cx="6134037" cy="882009"/>
              <a:chOff x="0" y="0"/>
              <a:chExt cx="1211662" cy="174224"/>
            </a:xfrm>
          </p:grpSpPr>
          <p:sp>
            <p:nvSpPr>
              <p:cNvPr name="Freeform 23" id="23"/>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alpha val="29804"/>
                </a:srgbClr>
              </a:solidFill>
            </p:spPr>
          </p:sp>
          <p:sp>
            <p:nvSpPr>
              <p:cNvPr name="TextBox 24" id="24"/>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5" id="25"/>
            <p:cNvGrpSpPr/>
            <p:nvPr/>
          </p:nvGrpSpPr>
          <p:grpSpPr>
            <a:xfrm rot="-2700000">
              <a:off x="542988" y="3146187"/>
              <a:ext cx="6134037" cy="882009"/>
              <a:chOff x="0" y="0"/>
              <a:chExt cx="1211662" cy="174224"/>
            </a:xfrm>
          </p:grpSpPr>
          <p:sp>
            <p:nvSpPr>
              <p:cNvPr name="Freeform 26" id="26"/>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7" id="27"/>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8" id="28"/>
          <p:cNvSpPr txBox="true"/>
          <p:nvPr/>
        </p:nvSpPr>
        <p:spPr>
          <a:xfrm rot="0">
            <a:off x="2245133" y="9737090"/>
            <a:ext cx="6898867" cy="549910"/>
          </a:xfrm>
          <a:prstGeom prst="rect">
            <a:avLst/>
          </a:prstGeom>
        </p:spPr>
        <p:txBody>
          <a:bodyPr anchor="t" rtlCol="false" tIns="0" lIns="0" bIns="0" rIns="0">
            <a:spAutoFit/>
          </a:bodyPr>
          <a:lstStyle/>
          <a:p>
            <a:pPr algn="l">
              <a:lnSpc>
                <a:spcPts val="2239"/>
              </a:lnSpc>
            </a:pPr>
            <a:r>
              <a:rPr lang="en-US" sz="1599" b="true">
                <a:solidFill>
                  <a:srgbClr val="0B0C0F"/>
                </a:solidFill>
                <a:latin typeface="Cardo Bold"/>
                <a:ea typeface="Cardo Bold"/>
                <a:cs typeface="Cardo Bold"/>
                <a:sym typeface="Cardo Bold"/>
              </a:rPr>
              <a:t>Fig11. Challenges of Micro Finance</a:t>
            </a:r>
          </a:p>
          <a:p>
            <a:pPr algn="l">
              <a:lnSpc>
                <a:spcPts val="2239"/>
              </a:lnSpc>
            </a:pPr>
            <a:r>
              <a:rPr lang="en-US" sz="1599" b="true">
                <a:solidFill>
                  <a:srgbClr val="0B0C0F"/>
                </a:solidFill>
                <a:latin typeface="Cardo Bold"/>
                <a:ea typeface="Cardo Bold"/>
                <a:cs typeface="Cardo Bold"/>
                <a:sym typeface="Cardo Bold"/>
              </a:rPr>
              <a:t>Source. fastercapital.com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 r="0" b="-333"/>
            </a:stretch>
          </a:blipFill>
        </p:spPr>
      </p:sp>
      <p:grpSp>
        <p:nvGrpSpPr>
          <p:cNvPr name="Group 3" id="3"/>
          <p:cNvGrpSpPr/>
          <p:nvPr/>
        </p:nvGrpSpPr>
        <p:grpSpPr>
          <a:xfrm rot="0">
            <a:off x="-2182202" y="-2174537"/>
            <a:ext cx="23460202" cy="15468363"/>
            <a:chOff x="0" y="0"/>
            <a:chExt cx="31280270" cy="20624484"/>
          </a:xfrm>
        </p:grpSpPr>
        <p:grpSp>
          <p:nvGrpSpPr>
            <p:cNvPr name="Group 4" id="4"/>
            <p:cNvGrpSpPr/>
            <p:nvPr/>
          </p:nvGrpSpPr>
          <p:grpSpPr>
            <a:xfrm rot="-2700000">
              <a:off x="23824152" y="15519818"/>
              <a:ext cx="5467308" cy="882009"/>
              <a:chOff x="0" y="0"/>
              <a:chExt cx="1079962" cy="174224"/>
            </a:xfrm>
          </p:grpSpPr>
          <p:sp>
            <p:nvSpPr>
              <p:cNvPr name="Freeform 5" id="5"/>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6" id="6"/>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7" id="7"/>
            <p:cNvGrpSpPr/>
            <p:nvPr/>
          </p:nvGrpSpPr>
          <p:grpSpPr>
            <a:xfrm rot="2700000">
              <a:off x="25397843" y="852203"/>
              <a:ext cx="4114800" cy="41148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9" id="9"/>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0" id="10"/>
            <p:cNvGrpSpPr/>
            <p:nvPr/>
          </p:nvGrpSpPr>
          <p:grpSpPr>
            <a:xfrm rot="2700000">
              <a:off x="26313267" y="1003759"/>
              <a:ext cx="4114800" cy="41148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2" id="12"/>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3" id="13"/>
            <p:cNvGrpSpPr/>
            <p:nvPr/>
          </p:nvGrpSpPr>
          <p:grpSpPr>
            <a:xfrm rot="-2700000">
              <a:off x="852203" y="14568203"/>
              <a:ext cx="4114800" cy="41148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5" id="15"/>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6" id="16"/>
            <p:cNvGrpSpPr/>
            <p:nvPr/>
          </p:nvGrpSpPr>
          <p:grpSpPr>
            <a:xfrm rot="2700000">
              <a:off x="1271456" y="15657481"/>
              <a:ext cx="4114800" cy="41148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8" id="1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9" id="19"/>
            <p:cNvGrpSpPr/>
            <p:nvPr/>
          </p:nvGrpSpPr>
          <p:grpSpPr>
            <a:xfrm rot="-2700000">
              <a:off x="1214185" y="4086783"/>
              <a:ext cx="6134037" cy="882009"/>
              <a:chOff x="0" y="0"/>
              <a:chExt cx="1211662" cy="174224"/>
            </a:xfrm>
          </p:grpSpPr>
          <p:sp>
            <p:nvSpPr>
              <p:cNvPr name="Freeform 20" id="2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1" id="21"/>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2" id="22"/>
            <p:cNvGrpSpPr/>
            <p:nvPr/>
          </p:nvGrpSpPr>
          <p:grpSpPr>
            <a:xfrm rot="-2700000">
              <a:off x="878586" y="3616485"/>
              <a:ext cx="6134037" cy="882009"/>
              <a:chOff x="0" y="0"/>
              <a:chExt cx="1211662" cy="174224"/>
            </a:xfrm>
          </p:grpSpPr>
          <p:sp>
            <p:nvSpPr>
              <p:cNvPr name="Freeform 23" id="23"/>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4" id="24"/>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5" id="25"/>
            <p:cNvGrpSpPr/>
            <p:nvPr/>
          </p:nvGrpSpPr>
          <p:grpSpPr>
            <a:xfrm rot="-2700000">
              <a:off x="542988" y="3146187"/>
              <a:ext cx="6134037" cy="882009"/>
              <a:chOff x="0" y="0"/>
              <a:chExt cx="1211662" cy="174224"/>
            </a:xfrm>
          </p:grpSpPr>
          <p:sp>
            <p:nvSpPr>
              <p:cNvPr name="Freeform 26" id="26"/>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7" id="27"/>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8" id="28"/>
          <p:cNvSpPr txBox="true"/>
          <p:nvPr/>
        </p:nvSpPr>
        <p:spPr>
          <a:xfrm rot="0">
            <a:off x="918249" y="2415125"/>
            <a:ext cx="17259300" cy="6212839"/>
          </a:xfrm>
          <a:prstGeom prst="rect">
            <a:avLst/>
          </a:prstGeom>
        </p:spPr>
        <p:txBody>
          <a:bodyPr anchor="t" rtlCol="false" tIns="0" lIns="0" bIns="0" rIns="0">
            <a:spAutoFit/>
          </a:bodyPr>
          <a:lstStyle/>
          <a:p>
            <a:pPr algn="l">
              <a:lnSpc>
                <a:spcPts val="6160"/>
              </a:lnSpc>
            </a:pPr>
            <a:r>
              <a:rPr lang="en-US" sz="4400">
                <a:solidFill>
                  <a:srgbClr val="FFFFFF"/>
                </a:solidFill>
                <a:latin typeface="Cardo"/>
                <a:ea typeface="Cardo"/>
                <a:cs typeface="Cardo"/>
                <a:sym typeface="Cardo"/>
              </a:rPr>
              <a:t>Dr. Yunus changed how we thought about lending and poverty reduction, by showing the poor that they are creditworthy and can become self-sufficient if helped. </a:t>
            </a:r>
          </a:p>
          <a:p>
            <a:pPr algn="l">
              <a:lnSpc>
                <a:spcPts val="6160"/>
              </a:lnSpc>
            </a:pPr>
            <a:r>
              <a:rPr lang="en-US" sz="4400">
                <a:solidFill>
                  <a:srgbClr val="FFFFFF"/>
                </a:solidFill>
                <a:latin typeface="Cardo"/>
                <a:ea typeface="Cardo"/>
                <a:cs typeface="Cardo"/>
                <a:sym typeface="Cardo"/>
              </a:rPr>
              <a:t> </a:t>
            </a:r>
          </a:p>
          <a:p>
            <a:pPr algn="l">
              <a:lnSpc>
                <a:spcPts val="6160"/>
              </a:lnSpc>
            </a:pPr>
            <a:r>
              <a:rPr lang="en-US" sz="4400">
                <a:solidFill>
                  <a:srgbClr val="FFFFFF"/>
                </a:solidFill>
                <a:latin typeface="Cardo"/>
                <a:ea typeface="Cardo"/>
                <a:cs typeface="Cardo"/>
                <a:sym typeface="Cardo"/>
              </a:rPr>
              <a:t>He never ceases to press world leaders to take their money and invest in socially driven companies with a social purpose as well as making money, and to look to entrepreneurship as a changemaker. </a:t>
            </a:r>
          </a:p>
          <a:p>
            <a:pPr algn="l">
              <a:lnSpc>
                <a:spcPts val="6160"/>
              </a:lnSpc>
            </a:pPr>
          </a:p>
        </p:txBody>
      </p:sp>
      <p:sp>
        <p:nvSpPr>
          <p:cNvPr name="TextBox 29" id="29"/>
          <p:cNvSpPr txBox="true"/>
          <p:nvPr/>
        </p:nvSpPr>
        <p:spPr>
          <a:xfrm rot="0">
            <a:off x="1028700" y="573295"/>
            <a:ext cx="14773158"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Dr. Yunus’s Legacy and Vision</a:t>
            </a:r>
          </a:p>
        </p:txBody>
      </p:sp>
      <p:sp>
        <p:nvSpPr>
          <p:cNvPr name="TextBox 30" id="30"/>
          <p:cNvSpPr txBox="true"/>
          <p:nvPr/>
        </p:nvSpPr>
        <p:spPr>
          <a:xfrm rot="0">
            <a:off x="14838567" y="9737090"/>
            <a:ext cx="6898867" cy="549910"/>
          </a:xfrm>
          <a:prstGeom prst="rect">
            <a:avLst/>
          </a:prstGeom>
        </p:spPr>
        <p:txBody>
          <a:bodyPr anchor="t" rtlCol="false" tIns="0" lIns="0" bIns="0" rIns="0">
            <a:spAutoFit/>
          </a:bodyPr>
          <a:lstStyle/>
          <a:p>
            <a:pPr algn="l">
              <a:lnSpc>
                <a:spcPts val="2239"/>
              </a:lnSpc>
            </a:pPr>
            <a:r>
              <a:rPr lang="en-US" sz="1599" b="true">
                <a:solidFill>
                  <a:srgbClr val="FFFFFF"/>
                </a:solidFill>
                <a:latin typeface="Cardo Bold"/>
                <a:ea typeface="Cardo Bold"/>
                <a:cs typeface="Cardo Bold"/>
                <a:sym typeface="Cardo Bold"/>
              </a:rPr>
              <a:t>Fig12. Dr, Yunus Legacy and visions</a:t>
            </a:r>
          </a:p>
          <a:p>
            <a:pPr algn="l">
              <a:lnSpc>
                <a:spcPts val="2239"/>
              </a:lnSpc>
            </a:pPr>
            <a:r>
              <a:rPr lang="en-US" sz="1599" b="true">
                <a:solidFill>
                  <a:srgbClr val="FFFFFF"/>
                </a:solidFill>
                <a:latin typeface="Cardo Bold"/>
                <a:ea typeface="Cardo Bold"/>
                <a:cs typeface="Cardo Bold"/>
                <a:sym typeface="Cardo Bold"/>
              </a:rPr>
              <a:t>Source. kingsbusinessreview.co.uk</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33" r="0" b="-3333"/>
            </a:stretch>
          </a:blipFill>
        </p:spPr>
      </p:sp>
      <p:grpSp>
        <p:nvGrpSpPr>
          <p:cNvPr name="Group 3" id="3"/>
          <p:cNvGrpSpPr/>
          <p:nvPr/>
        </p:nvGrpSpPr>
        <p:grpSpPr>
          <a:xfrm rot="0">
            <a:off x="-2182202" y="-2182202"/>
            <a:ext cx="23460202" cy="15468363"/>
            <a:chOff x="0" y="0"/>
            <a:chExt cx="31280270" cy="20624484"/>
          </a:xfrm>
        </p:grpSpPr>
        <p:grpSp>
          <p:nvGrpSpPr>
            <p:cNvPr name="Group 4" id="4"/>
            <p:cNvGrpSpPr/>
            <p:nvPr/>
          </p:nvGrpSpPr>
          <p:grpSpPr>
            <a:xfrm rot="-2700000">
              <a:off x="23824152" y="15519818"/>
              <a:ext cx="5467308" cy="882009"/>
              <a:chOff x="0" y="0"/>
              <a:chExt cx="1079962" cy="174224"/>
            </a:xfrm>
          </p:grpSpPr>
          <p:sp>
            <p:nvSpPr>
              <p:cNvPr name="Freeform 5" id="5"/>
              <p:cNvSpPr/>
              <p:nvPr/>
            </p:nvSpPr>
            <p:spPr>
              <a:xfrm flipH="false" flipV="false" rot="0">
                <a:off x="0" y="0"/>
                <a:ext cx="1079962" cy="174224"/>
              </a:xfrm>
              <a:custGeom>
                <a:avLst/>
                <a:gdLst/>
                <a:ahLst/>
                <a:cxnLst/>
                <a:rect r="r" b="b" t="t" l="l"/>
                <a:pathLst>
                  <a:path h="174224" w="1079962">
                    <a:moveTo>
                      <a:pt x="0" y="0"/>
                    </a:moveTo>
                    <a:lnTo>
                      <a:pt x="1079962" y="0"/>
                    </a:lnTo>
                    <a:lnTo>
                      <a:pt x="1079962" y="174224"/>
                    </a:lnTo>
                    <a:lnTo>
                      <a:pt x="0" y="174224"/>
                    </a:lnTo>
                    <a:close/>
                  </a:path>
                </a:pathLst>
              </a:custGeom>
              <a:solidFill>
                <a:srgbClr val="222224"/>
              </a:solidFill>
            </p:spPr>
          </p:sp>
          <p:sp>
            <p:nvSpPr>
              <p:cNvPr name="TextBox 6" id="6"/>
              <p:cNvSpPr txBox="true"/>
              <p:nvPr/>
            </p:nvSpPr>
            <p:spPr>
              <a:xfrm>
                <a:off x="0" y="-133350"/>
                <a:ext cx="10799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7" id="7"/>
            <p:cNvGrpSpPr/>
            <p:nvPr/>
          </p:nvGrpSpPr>
          <p:grpSpPr>
            <a:xfrm rot="2700000">
              <a:off x="25397843" y="852203"/>
              <a:ext cx="4114800" cy="41148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222224"/>
              </a:solidFill>
            </p:spPr>
          </p:sp>
          <p:sp>
            <p:nvSpPr>
              <p:cNvPr name="TextBox 9" id="9"/>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0" id="10"/>
            <p:cNvGrpSpPr/>
            <p:nvPr/>
          </p:nvGrpSpPr>
          <p:grpSpPr>
            <a:xfrm rot="2700000">
              <a:off x="26313267" y="1003759"/>
              <a:ext cx="4114800" cy="41148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2" id="12"/>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3" id="13"/>
            <p:cNvGrpSpPr/>
            <p:nvPr/>
          </p:nvGrpSpPr>
          <p:grpSpPr>
            <a:xfrm rot="-2700000">
              <a:off x="852203" y="14568203"/>
              <a:ext cx="4114800" cy="41148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B0C0F"/>
              </a:solidFill>
            </p:spPr>
          </p:sp>
          <p:sp>
            <p:nvSpPr>
              <p:cNvPr name="TextBox 15" id="15"/>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6" id="16"/>
            <p:cNvGrpSpPr/>
            <p:nvPr/>
          </p:nvGrpSpPr>
          <p:grpSpPr>
            <a:xfrm rot="2700000">
              <a:off x="1271456" y="15657481"/>
              <a:ext cx="4114800" cy="41148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86A8C5"/>
              </a:solidFill>
            </p:spPr>
          </p:sp>
          <p:sp>
            <p:nvSpPr>
              <p:cNvPr name="TextBox 18" id="18"/>
              <p:cNvSpPr txBox="true"/>
              <p:nvPr/>
            </p:nvSpPr>
            <p:spPr>
              <a:xfrm>
                <a:off x="0" y="-133350"/>
                <a:ext cx="812800" cy="946150"/>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19" id="19"/>
            <p:cNvGrpSpPr/>
            <p:nvPr/>
          </p:nvGrpSpPr>
          <p:grpSpPr>
            <a:xfrm rot="-2700000">
              <a:off x="1214185" y="4086783"/>
              <a:ext cx="6134037" cy="882009"/>
              <a:chOff x="0" y="0"/>
              <a:chExt cx="1211662" cy="174224"/>
            </a:xfrm>
          </p:grpSpPr>
          <p:sp>
            <p:nvSpPr>
              <p:cNvPr name="Freeform 20" id="20"/>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1" id="21"/>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2" id="22"/>
            <p:cNvGrpSpPr/>
            <p:nvPr/>
          </p:nvGrpSpPr>
          <p:grpSpPr>
            <a:xfrm rot="-2700000">
              <a:off x="878586" y="3616485"/>
              <a:ext cx="6134037" cy="882009"/>
              <a:chOff x="0" y="0"/>
              <a:chExt cx="1211662" cy="174224"/>
            </a:xfrm>
          </p:grpSpPr>
          <p:sp>
            <p:nvSpPr>
              <p:cNvPr name="Freeform 23" id="23"/>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86A8C5"/>
              </a:solidFill>
            </p:spPr>
          </p:sp>
          <p:sp>
            <p:nvSpPr>
              <p:cNvPr name="TextBox 24" id="24"/>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nvGrpSpPr>
            <p:cNvPr name="Group 25" id="25"/>
            <p:cNvGrpSpPr/>
            <p:nvPr/>
          </p:nvGrpSpPr>
          <p:grpSpPr>
            <a:xfrm rot="-2700000">
              <a:off x="542988" y="3146187"/>
              <a:ext cx="6134037" cy="882009"/>
              <a:chOff x="0" y="0"/>
              <a:chExt cx="1211662" cy="174224"/>
            </a:xfrm>
          </p:grpSpPr>
          <p:sp>
            <p:nvSpPr>
              <p:cNvPr name="Freeform 26" id="26"/>
              <p:cNvSpPr/>
              <p:nvPr/>
            </p:nvSpPr>
            <p:spPr>
              <a:xfrm flipH="false" flipV="false" rot="0">
                <a:off x="0" y="0"/>
                <a:ext cx="1211662" cy="174224"/>
              </a:xfrm>
              <a:custGeom>
                <a:avLst/>
                <a:gdLst/>
                <a:ahLst/>
                <a:cxnLst/>
                <a:rect r="r" b="b" t="t" l="l"/>
                <a:pathLst>
                  <a:path h="174224" w="1211662">
                    <a:moveTo>
                      <a:pt x="0" y="0"/>
                    </a:moveTo>
                    <a:lnTo>
                      <a:pt x="1211662" y="0"/>
                    </a:lnTo>
                    <a:lnTo>
                      <a:pt x="1211662" y="174224"/>
                    </a:lnTo>
                    <a:lnTo>
                      <a:pt x="0" y="174224"/>
                    </a:lnTo>
                    <a:close/>
                  </a:path>
                </a:pathLst>
              </a:custGeom>
              <a:solidFill>
                <a:srgbClr val="0B0C0F"/>
              </a:solidFill>
            </p:spPr>
          </p:sp>
          <p:sp>
            <p:nvSpPr>
              <p:cNvPr name="TextBox 27" id="27"/>
              <p:cNvSpPr txBox="true"/>
              <p:nvPr/>
            </p:nvSpPr>
            <p:spPr>
              <a:xfrm>
                <a:off x="0" y="-133350"/>
                <a:ext cx="1211662" cy="307574"/>
              </a:xfrm>
              <a:prstGeom prst="rect">
                <a:avLst/>
              </a:prstGeom>
            </p:spPr>
            <p:txBody>
              <a:bodyPr anchor="ctr" rtlCol="false" tIns="50800" lIns="50800" bIns="50800" rIns="50800"/>
              <a:lstStyle/>
              <a:p>
                <a:pPr algn="l" marL="1423815" indent="-711907" lvl="1">
                  <a:lnSpc>
                    <a:spcPts val="9232"/>
                  </a:lnSpc>
                  <a:spcBef>
                    <a:spcPct val="0"/>
                  </a:spcBef>
                  <a:buFont typeface="Arial"/>
                  <a:buChar char="•"/>
                </a:pPr>
              </a:p>
            </p:txBody>
          </p:sp>
        </p:grpSp>
      </p:grpSp>
      <p:sp>
        <p:nvSpPr>
          <p:cNvPr name="TextBox 28" id="28"/>
          <p:cNvSpPr txBox="true"/>
          <p:nvPr/>
        </p:nvSpPr>
        <p:spPr>
          <a:xfrm rot="0">
            <a:off x="675248" y="2383296"/>
            <a:ext cx="17288064" cy="5784850"/>
          </a:xfrm>
          <a:prstGeom prst="rect">
            <a:avLst/>
          </a:prstGeom>
        </p:spPr>
        <p:txBody>
          <a:bodyPr anchor="t" rtlCol="false" tIns="0" lIns="0" bIns="0" rIns="0">
            <a:spAutoFit/>
          </a:bodyPr>
          <a:lstStyle/>
          <a:p>
            <a:pPr algn="l">
              <a:lnSpc>
                <a:spcPts val="7699"/>
              </a:lnSpc>
            </a:pPr>
            <a:r>
              <a:rPr lang="en-US" sz="5499">
                <a:solidFill>
                  <a:srgbClr val="FFFFFF"/>
                </a:solidFill>
                <a:latin typeface="Cardo"/>
                <a:ea typeface="Cardo"/>
                <a:cs typeface="Cardo"/>
                <a:sym typeface="Cardo"/>
              </a:rPr>
              <a:t>In conclusion, Muhammad Yunus's Grameen Bank transformed microfinance, empowering many, especially women, to escape poverty. His work, which earned him the Nobel Peace Prize, aligns with the UN Sustainable Development Goals, demonstrating the power of financial solutions to address global challenges. Thank you!</a:t>
            </a:r>
          </a:p>
        </p:txBody>
      </p:sp>
      <p:sp>
        <p:nvSpPr>
          <p:cNvPr name="TextBox 29" id="29"/>
          <p:cNvSpPr txBox="true"/>
          <p:nvPr/>
        </p:nvSpPr>
        <p:spPr>
          <a:xfrm rot="0">
            <a:off x="1028700" y="573295"/>
            <a:ext cx="11909763" cy="1302435"/>
          </a:xfrm>
          <a:prstGeom prst="rect">
            <a:avLst/>
          </a:prstGeom>
        </p:spPr>
        <p:txBody>
          <a:bodyPr anchor="t" rtlCol="false" tIns="0" lIns="0" bIns="0" rIns="0">
            <a:spAutoFit/>
          </a:bodyPr>
          <a:lstStyle/>
          <a:p>
            <a:pPr algn="just">
              <a:lnSpc>
                <a:spcPts val="10601"/>
              </a:lnSpc>
            </a:pPr>
            <a:r>
              <a:rPr lang="en-US" sz="7572" b="true">
                <a:solidFill>
                  <a:srgbClr val="FFFFFF"/>
                </a:solidFill>
                <a:latin typeface="Cardo Bold"/>
                <a:ea typeface="Cardo Bold"/>
                <a:cs typeface="Cardo Bold"/>
                <a:sym typeface="Cardo Bold"/>
              </a:rPr>
              <a:t>Summary</a:t>
            </a:r>
          </a:p>
        </p:txBody>
      </p:sp>
      <p:sp>
        <p:nvSpPr>
          <p:cNvPr name="TextBox 30" id="30"/>
          <p:cNvSpPr txBox="true"/>
          <p:nvPr/>
        </p:nvSpPr>
        <p:spPr>
          <a:xfrm rot="0">
            <a:off x="13421064" y="9737090"/>
            <a:ext cx="6898867" cy="549910"/>
          </a:xfrm>
          <a:prstGeom prst="rect">
            <a:avLst/>
          </a:prstGeom>
        </p:spPr>
        <p:txBody>
          <a:bodyPr anchor="t" rtlCol="false" tIns="0" lIns="0" bIns="0" rIns="0">
            <a:spAutoFit/>
          </a:bodyPr>
          <a:lstStyle/>
          <a:p>
            <a:pPr algn="l">
              <a:lnSpc>
                <a:spcPts val="2239"/>
              </a:lnSpc>
            </a:pPr>
            <a:r>
              <a:rPr lang="en-US" sz="1599" b="true">
                <a:solidFill>
                  <a:srgbClr val="FFFFFF"/>
                </a:solidFill>
                <a:latin typeface="Cardo Bold"/>
                <a:ea typeface="Cardo Bold"/>
                <a:cs typeface="Cardo Bold"/>
                <a:sym typeface="Cardo Bold"/>
              </a:rPr>
              <a:t>Fig13. Muhammad Yunus</a:t>
            </a:r>
          </a:p>
          <a:p>
            <a:pPr algn="l">
              <a:lnSpc>
                <a:spcPts val="2239"/>
              </a:lnSpc>
            </a:pPr>
            <a:r>
              <a:rPr lang="en-US" sz="1599" b="true">
                <a:solidFill>
                  <a:srgbClr val="FFFFFF"/>
                </a:solidFill>
                <a:latin typeface="Cardo Bold"/>
                <a:ea typeface="Cardo Bold"/>
                <a:cs typeface="Cardo Bold"/>
                <a:sym typeface="Cardo Bold"/>
              </a:rPr>
              <a:t>Source. daily-sun.com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DAGXBG5ihPM</dc:identifier>
  <dcterms:modified xsi:type="dcterms:W3CDTF">2011-08-01T06:04:30Z</dcterms:modified>
  <cp:revision>1</cp:revision>
  <dc:title>M</dc:title>
</cp:coreProperties>
</file>